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y="10287000" cx="18288000"/>
  <p:notesSz cx="18288000" cy="10287000"/>
  <p:embeddedFontLst>
    <p:embeddedFont>
      <p:font typeface="Roboto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  <p:ext uri="GoogleSlidesCustomDataVersion2">
      <go:slidesCustomData xmlns:go="http://customooxmlschemas.google.com/" r:id="rId39" roundtripDataSignature="AMtx7mh+VVz/4O0QNAEMzPgkFlqdu4CPy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font" Target="fonts/Roboto-regular.fntdata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font" Target="fonts/Roboto-italic.fntdata"/><Relationship Id="rId14" Type="http://schemas.openxmlformats.org/officeDocument/2006/relationships/slide" Target="slides/slide9.xml"/><Relationship Id="rId36" Type="http://schemas.openxmlformats.org/officeDocument/2006/relationships/font" Target="fonts/Roboto-bold.fntdata"/><Relationship Id="rId17" Type="http://schemas.openxmlformats.org/officeDocument/2006/relationships/slide" Target="slides/slide12.xml"/><Relationship Id="rId39" Type="http://customschemas.google.com/relationships/presentationmetadata" Target="metadata"/><Relationship Id="rId16" Type="http://schemas.openxmlformats.org/officeDocument/2006/relationships/slide" Target="slides/slide11.xml"/><Relationship Id="rId38" Type="http://schemas.openxmlformats.org/officeDocument/2006/relationships/font" Target="fonts/Roboto-bold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2" name="Google Shape;42;p1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2" name="Google Shape;52;p2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8" name="Google Shape;58;p3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4" name="Google Shape;64;p4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5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1" name="Google Shape;71;p5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6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6:notes"/>
          <p:cNvSpPr/>
          <p:nvPr>
            <p:ph idx="2" type="sldImg"/>
          </p:nvPr>
        </p:nvSpPr>
        <p:spPr>
          <a:xfrm>
            <a:off x="3048600" y="771525"/>
            <a:ext cx="121926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7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3" name="Google Shape;93;p7:notes"/>
          <p:cNvSpPr/>
          <p:nvPr>
            <p:ph idx="2" type="sldImg"/>
          </p:nvPr>
        </p:nvSpPr>
        <p:spPr>
          <a:xfrm>
            <a:off x="3048600" y="771525"/>
            <a:ext cx="121926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8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4" name="Google Shape;104;p8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9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0" name="Google Shape;110;p9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0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6" name="Google Shape;116;p10:notes"/>
          <p:cNvSpPr/>
          <p:nvPr>
            <p:ph idx="2" type="sldImg"/>
          </p:nvPr>
        </p:nvSpPr>
        <p:spPr>
          <a:xfrm>
            <a:off x="3048600" y="771525"/>
            <a:ext cx="121926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1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2" name="Google Shape;122;p11:notes"/>
          <p:cNvSpPr/>
          <p:nvPr>
            <p:ph idx="2" type="sldImg"/>
          </p:nvPr>
        </p:nvSpPr>
        <p:spPr>
          <a:xfrm>
            <a:off x="3048600" y="771525"/>
            <a:ext cx="121926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2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8" name="Google Shape;128;p12:notes"/>
          <p:cNvSpPr/>
          <p:nvPr>
            <p:ph idx="2" type="sldImg"/>
          </p:nvPr>
        </p:nvSpPr>
        <p:spPr>
          <a:xfrm>
            <a:off x="3048600" y="771525"/>
            <a:ext cx="121926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3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4" name="Google Shape;134;p13:notes"/>
          <p:cNvSpPr/>
          <p:nvPr>
            <p:ph idx="2" type="sldImg"/>
          </p:nvPr>
        </p:nvSpPr>
        <p:spPr>
          <a:xfrm>
            <a:off x="3048600" y="771525"/>
            <a:ext cx="121926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4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0" name="Google Shape;140;p14:notes"/>
          <p:cNvSpPr/>
          <p:nvPr>
            <p:ph idx="2" type="sldImg"/>
          </p:nvPr>
        </p:nvSpPr>
        <p:spPr>
          <a:xfrm>
            <a:off x="3048600" y="771525"/>
            <a:ext cx="121926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6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8" name="Google Shape;148;p16:notes"/>
          <p:cNvSpPr/>
          <p:nvPr>
            <p:ph idx="2" type="sldImg"/>
          </p:nvPr>
        </p:nvSpPr>
        <p:spPr>
          <a:xfrm>
            <a:off x="3048600" y="771525"/>
            <a:ext cx="121926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7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4" name="Google Shape;154;p17:notes"/>
          <p:cNvSpPr/>
          <p:nvPr>
            <p:ph idx="2" type="sldImg"/>
          </p:nvPr>
        </p:nvSpPr>
        <p:spPr>
          <a:xfrm>
            <a:off x="3048600" y="771525"/>
            <a:ext cx="121926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8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0" name="Google Shape;160;p18:notes"/>
          <p:cNvSpPr/>
          <p:nvPr>
            <p:ph idx="2" type="sldImg"/>
          </p:nvPr>
        </p:nvSpPr>
        <p:spPr>
          <a:xfrm>
            <a:off x="3048600" y="771525"/>
            <a:ext cx="121926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0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9" name="Google Shape;169;p20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da1d014ec3_0_10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5" name="Google Shape;175;g3da1d014ec3_0_10:notes"/>
          <p:cNvSpPr/>
          <p:nvPr>
            <p:ph idx="2" type="sldImg"/>
          </p:nvPr>
        </p:nvSpPr>
        <p:spPr>
          <a:xfrm>
            <a:off x="3048600" y="771525"/>
            <a:ext cx="121926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da1d014ec3_0_17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4" name="Google Shape;184;g3da1d014ec3_0_17:notes"/>
          <p:cNvSpPr/>
          <p:nvPr>
            <p:ph idx="2" type="sldImg"/>
          </p:nvPr>
        </p:nvSpPr>
        <p:spPr>
          <a:xfrm>
            <a:off x="3048600" y="771525"/>
            <a:ext cx="121926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da1d014ec3_0_26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3" name="Google Shape;193;g3da1d014ec3_0_26:notes"/>
          <p:cNvSpPr/>
          <p:nvPr>
            <p:ph idx="2" type="sldImg"/>
          </p:nvPr>
        </p:nvSpPr>
        <p:spPr>
          <a:xfrm>
            <a:off x="3048600" y="771525"/>
            <a:ext cx="121926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da1d014ec3_0_90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4" name="Google Shape;204;g3da1d014ec3_0_90:notes"/>
          <p:cNvSpPr/>
          <p:nvPr>
            <p:ph idx="2" type="sldImg"/>
          </p:nvPr>
        </p:nvSpPr>
        <p:spPr>
          <a:xfrm>
            <a:off x="3048600" y="771525"/>
            <a:ext cx="121926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da1d014ec3_0_80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3" name="Google Shape;213;g3da1d014ec3_0_80:notes"/>
          <p:cNvSpPr/>
          <p:nvPr>
            <p:ph idx="2" type="sldImg"/>
          </p:nvPr>
        </p:nvSpPr>
        <p:spPr>
          <a:xfrm>
            <a:off x="3048600" y="771525"/>
            <a:ext cx="121926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0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4" name="Google Shape;224;p30:notes"/>
          <p:cNvSpPr/>
          <p:nvPr>
            <p:ph idx="2" type="sldImg"/>
          </p:nvPr>
        </p:nvSpPr>
        <p:spPr>
          <a:xfrm>
            <a:off x="3048600" y="771525"/>
            <a:ext cx="121926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1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2" name="Google Shape;232;p31:notes"/>
          <p:cNvSpPr/>
          <p:nvPr>
            <p:ph idx="2" type="sldImg"/>
          </p:nvPr>
        </p:nvSpPr>
        <p:spPr>
          <a:xfrm>
            <a:off x="3048600" y="771525"/>
            <a:ext cx="121926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2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8" name="Google Shape;238;p32:notes"/>
          <p:cNvSpPr/>
          <p:nvPr>
            <p:ph idx="2" type="sldImg"/>
          </p:nvPr>
        </p:nvSpPr>
        <p:spPr>
          <a:xfrm>
            <a:off x="3048600" y="771525"/>
            <a:ext cx="121926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da1d014ec3_0_38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6" name="Google Shape;246;g3da1d014ec3_0_38:notes"/>
          <p:cNvSpPr/>
          <p:nvPr>
            <p:ph idx="2" type="sldImg"/>
          </p:nvPr>
        </p:nvSpPr>
        <p:spPr>
          <a:xfrm>
            <a:off x="3048600" y="771525"/>
            <a:ext cx="121926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da1d014ec3_0_58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7" name="Google Shape;257;g3da1d014ec3_0_58:notes"/>
          <p:cNvSpPr/>
          <p:nvPr>
            <p:ph idx="2" type="sldImg"/>
          </p:nvPr>
        </p:nvSpPr>
        <p:spPr>
          <a:xfrm>
            <a:off x="3048600" y="771525"/>
            <a:ext cx="121926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7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8" name="Google Shape;268;p37:notes"/>
          <p:cNvSpPr/>
          <p:nvPr>
            <p:ph idx="2" type="sldImg"/>
          </p:nvPr>
        </p:nvSpPr>
        <p:spPr>
          <a:xfrm>
            <a:off x="3048600" y="771525"/>
            <a:ext cx="121926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9"/>
          <p:cNvSpPr txBox="1"/>
          <p:nvPr>
            <p:ph type="title"/>
          </p:nvPr>
        </p:nvSpPr>
        <p:spPr>
          <a:xfrm>
            <a:off x="5809588" y="198557"/>
            <a:ext cx="6668823" cy="17425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6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39"/>
          <p:cNvSpPr txBox="1"/>
          <p:nvPr>
            <p:ph idx="1" type="body"/>
          </p:nvPr>
        </p:nvSpPr>
        <p:spPr>
          <a:xfrm>
            <a:off x="2357178" y="2509243"/>
            <a:ext cx="14167485" cy="453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9"/>
          <p:cNvSpPr txBox="1"/>
          <p:nvPr>
            <p:ph idx="11" type="ft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9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9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0"/>
          <p:cNvSpPr txBox="1"/>
          <p:nvPr>
            <p:ph type="title"/>
          </p:nvPr>
        </p:nvSpPr>
        <p:spPr>
          <a:xfrm>
            <a:off x="5809588" y="198557"/>
            <a:ext cx="6668823" cy="17425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6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0"/>
          <p:cNvSpPr txBox="1"/>
          <p:nvPr>
            <p:ph idx="11" type="ft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0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0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1"/>
          <p:cNvSpPr txBox="1"/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6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1"/>
          <p:cNvSpPr txBox="1"/>
          <p:nvPr>
            <p:ph idx="1" type="subTitle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1"/>
          <p:cNvSpPr txBox="1"/>
          <p:nvPr>
            <p:ph idx="11" type="ft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1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1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2"/>
          <p:cNvSpPr txBox="1"/>
          <p:nvPr>
            <p:ph type="title"/>
          </p:nvPr>
        </p:nvSpPr>
        <p:spPr>
          <a:xfrm>
            <a:off x="5809588" y="198557"/>
            <a:ext cx="6668823" cy="17425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6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2"/>
          <p:cNvSpPr txBox="1"/>
          <p:nvPr>
            <p:ph idx="1" type="body"/>
          </p:nvPr>
        </p:nvSpPr>
        <p:spPr>
          <a:xfrm>
            <a:off x="1830275" y="2692700"/>
            <a:ext cx="5185200" cy="6850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18288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u="none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2"/>
          <p:cNvSpPr txBox="1"/>
          <p:nvPr>
            <p:ph idx="2" type="body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2"/>
          <p:cNvSpPr txBox="1"/>
          <p:nvPr>
            <p:ph idx="11" type="ft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2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2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3"/>
          <p:cNvSpPr txBox="1"/>
          <p:nvPr>
            <p:ph idx="11" type="ft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3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3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38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143883" y="630944"/>
            <a:ext cx="1741307" cy="1740513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38"/>
          <p:cNvSpPr txBox="1"/>
          <p:nvPr>
            <p:ph type="title"/>
          </p:nvPr>
        </p:nvSpPr>
        <p:spPr>
          <a:xfrm>
            <a:off x="5809588" y="198557"/>
            <a:ext cx="6668823" cy="17425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6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38"/>
          <p:cNvSpPr txBox="1"/>
          <p:nvPr>
            <p:ph idx="1" type="body"/>
          </p:nvPr>
        </p:nvSpPr>
        <p:spPr>
          <a:xfrm>
            <a:off x="2357178" y="2509243"/>
            <a:ext cx="14167485" cy="453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00" u="sng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38"/>
          <p:cNvSpPr txBox="1"/>
          <p:nvPr>
            <p:ph idx="11" type="ft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38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38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hyperlink" Target="https://academic.oup.com/sleep/article/48/8/zsaf147/8169393?login=true" TargetMode="External"/><Relationship Id="rId4" Type="http://schemas.openxmlformats.org/officeDocument/2006/relationships/hyperlink" Target="https://pmc.ncbi.nlm.nih.gov/articles/PMC9364961/" TargetMode="External"/><Relationship Id="rId11" Type="http://schemas.openxmlformats.org/officeDocument/2006/relationships/hyperlink" Target="https://ieeexplore.ieee.org/document/10112203/" TargetMode="External"/><Relationship Id="rId10" Type="http://schemas.openxmlformats.org/officeDocument/2006/relationships/hyperlink" Target="https://pubmed.ncbi.nlm.nih.gov/31046987/" TargetMode="External"/><Relationship Id="rId12" Type="http://schemas.openxmlformats.org/officeDocument/2006/relationships/hyperlink" Target="https://www.arxiv.org/pdf/2501.09519.pdf" TargetMode="External"/><Relationship Id="rId9" Type="http://schemas.openxmlformats.org/officeDocument/2006/relationships/hyperlink" Target="https://pmc.ncbi.nlm.nih.gov/articles/PMC7115937/" TargetMode="External"/><Relationship Id="rId5" Type="http://schemas.openxmlformats.org/officeDocument/2006/relationships/hyperlink" Target="https://pmc.ncbi.nlm.nih.gov/articles/PMC12075865/" TargetMode="External"/><Relationship Id="rId6" Type="http://schemas.openxmlformats.org/officeDocument/2006/relationships/hyperlink" Target="https://www.sciencedirect.com/science/article/pii/S0010482525010066" TargetMode="External"/><Relationship Id="rId7" Type="http://schemas.openxmlformats.org/officeDocument/2006/relationships/hyperlink" Target="https://pmc.ncbi.nlm.nih.gov/articles/PMC12561869/" TargetMode="External"/><Relationship Id="rId8" Type="http://schemas.openxmlformats.org/officeDocument/2006/relationships/hyperlink" Target="https://pmc.ncbi.nlm.nih.gov/articles/PMC12561869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4309" y="619091"/>
            <a:ext cx="1748275" cy="17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1"/>
          <p:cNvSpPr txBox="1"/>
          <p:nvPr>
            <p:ph type="title"/>
          </p:nvPr>
        </p:nvSpPr>
        <p:spPr>
          <a:xfrm>
            <a:off x="5420376" y="1002265"/>
            <a:ext cx="8184900" cy="9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CSIR 82: Project Work</a:t>
            </a:r>
            <a:endParaRPr/>
          </a:p>
        </p:txBody>
      </p:sp>
      <p:sp>
        <p:nvSpPr>
          <p:cNvPr id="46" name="Google Shape;46;p1"/>
          <p:cNvSpPr txBox="1"/>
          <p:nvPr/>
        </p:nvSpPr>
        <p:spPr>
          <a:xfrm>
            <a:off x="1731875" y="3186775"/>
            <a:ext cx="15561900" cy="16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6000"/>
              <a:buFont typeface="Calibri"/>
              <a:buNone/>
            </a:pPr>
            <a:r>
              <a:rPr b="1" i="0" lang="en-US" sz="6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3D Volumetric EEG Mapping for Sleep Disorder Detection</a:t>
            </a:r>
            <a:endParaRPr b="0" i="0" sz="53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" name="Google Shape;47;p1"/>
          <p:cNvSpPr txBox="1"/>
          <p:nvPr/>
        </p:nvSpPr>
        <p:spPr>
          <a:xfrm>
            <a:off x="6735075" y="5941400"/>
            <a:ext cx="4774800" cy="13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ctr">
              <a:lnSpc>
                <a:spcPct val="1157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members</a:t>
            </a:r>
            <a:endParaRPr b="0" i="0" sz="2700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5080" rtl="0" algn="ctr">
              <a:lnSpc>
                <a:spcPct val="1157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Pawan Kumar (106122088) </a:t>
            </a:r>
            <a:endParaRPr b="0" i="0" sz="27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5080" rtl="0" algn="ctr">
              <a:lnSpc>
                <a:spcPct val="1157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Sharv Wadhavekar (106122140)</a:t>
            </a:r>
            <a:endParaRPr b="0" i="0" sz="27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" name="Google Shape;48;p1"/>
          <p:cNvSpPr txBox="1"/>
          <p:nvPr/>
        </p:nvSpPr>
        <p:spPr>
          <a:xfrm>
            <a:off x="2872575" y="8212150"/>
            <a:ext cx="3393300" cy="12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93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Guide:-</a:t>
            </a:r>
            <a:endParaRPr b="0" i="0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b="0" i="0" lang="en-US" sz="37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Dr. R. Mohan</a:t>
            </a:r>
            <a:endParaRPr b="0" i="0" sz="37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" name="Google Shape;49;p1"/>
          <p:cNvSpPr txBox="1"/>
          <p:nvPr/>
        </p:nvSpPr>
        <p:spPr>
          <a:xfrm>
            <a:off x="12850977" y="8212154"/>
            <a:ext cx="31218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Guide S</a:t>
            </a:r>
            <a:r>
              <a:rPr b="0" i="0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ig</a:t>
            </a:r>
            <a:r>
              <a:rPr b="0" i="0" lang="en-US" sz="32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nature:-_</a:t>
            </a:r>
            <a:endParaRPr b="0" i="0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"/>
          <p:cNvSpPr txBox="1"/>
          <p:nvPr>
            <p:ph type="title"/>
          </p:nvPr>
        </p:nvSpPr>
        <p:spPr>
          <a:xfrm>
            <a:off x="6963283" y="956183"/>
            <a:ext cx="4361815" cy="9848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Introduction</a:t>
            </a:r>
            <a:endParaRPr/>
          </a:p>
        </p:txBody>
      </p:sp>
      <p:sp>
        <p:nvSpPr>
          <p:cNvPr id="55" name="Google Shape;55;p2"/>
          <p:cNvSpPr txBox="1"/>
          <p:nvPr/>
        </p:nvSpPr>
        <p:spPr>
          <a:xfrm>
            <a:off x="1831725" y="2581475"/>
            <a:ext cx="15551400" cy="721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050">
            <a:noAutofit/>
          </a:bodyPr>
          <a:lstStyle/>
          <a:p>
            <a:pPr indent="-4064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●"/>
            </a:pP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Problem: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Traditional sleep diagnosis relies on the manual review of 1D EEG "wiggly lines" a process that is highly time-consuming, subjective, and prone to human fatigue.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●"/>
            </a:pP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Innovation: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We move beyond standard 1D analysis by transforming multi-channel EEG signals into </a:t>
            </a: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4D Spatio-Temporal Voxel Cubes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that preserve the brain's physical geometry.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●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By using RBF Interpolation and Global Power Anchoring, we create standardized </a:t>
            </a: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2D spatial energy maps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that, when combined across time and frequency bands, form a </a:t>
            </a: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4D spatio-temporal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representation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that is machine-understandable and comparable across different patients.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●"/>
            </a:pP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Objective: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Our final system utilizes a </a:t>
            </a: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3D-Convolutional Neural Network (3D-CNN)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 automatically classify complex sleep pathologies in the </a:t>
            </a: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CAP Sleep Database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with high spatial-spectral precision.</a:t>
            </a:r>
            <a:endParaRPr b="0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"/>
          <p:cNvSpPr txBox="1"/>
          <p:nvPr>
            <p:ph type="title"/>
          </p:nvPr>
        </p:nvSpPr>
        <p:spPr>
          <a:xfrm>
            <a:off x="5809588" y="198557"/>
            <a:ext cx="6668823" cy="17425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69050">
            <a:spAutoFit/>
          </a:bodyPr>
          <a:lstStyle/>
          <a:p>
            <a:pPr indent="0" lvl="0" marL="4699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Problem Statement</a:t>
            </a:r>
            <a:endParaRPr/>
          </a:p>
        </p:txBody>
      </p:sp>
      <p:sp>
        <p:nvSpPr>
          <p:cNvPr id="61" name="Google Shape;61;p3"/>
          <p:cNvSpPr txBox="1"/>
          <p:nvPr/>
        </p:nvSpPr>
        <p:spPr>
          <a:xfrm>
            <a:off x="1813425" y="2736100"/>
            <a:ext cx="15551400" cy="667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81275">
            <a:noAutofit/>
          </a:bodyPr>
          <a:lstStyle/>
          <a:p>
            <a:pPr indent="-406400" lvl="0" marL="457200" marR="4699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●"/>
            </a:pP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Manual Diagnostic Bottleneck: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Traditional sleep disorder diagnosis requires clinicians to manually score hours of 1D "wiggly lines," a process that is highly time-consuming, expensive, and subject to significant human fatigue and inter-rater subjectivity.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0" marL="457200" marR="4699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●"/>
            </a:pP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Spatial Information Loss: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Standard 1D and 2D signal processing methods treat EEG sensors as isolated data sequences, failing to capture the vital </a:t>
            </a: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geometric propagation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spatial interactions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between brain lobes that characterize complex sleep pathologies.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0" marL="457200" marR="4699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●"/>
            </a:pP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Dimensionality Gap: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There is a critical need for automated systems that can transform raw electrical signals into </a:t>
            </a: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machine-understandable 4D volumes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enabling deep learning models to identify the morphological "</a:t>
            </a: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geometric signatures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" of disorders in the CAP Sleep Database.</a:t>
            </a:r>
            <a:endParaRPr b="1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"/>
          <p:cNvSpPr txBox="1"/>
          <p:nvPr>
            <p:ph type="title"/>
          </p:nvPr>
        </p:nvSpPr>
        <p:spPr>
          <a:xfrm>
            <a:off x="6599397" y="1002275"/>
            <a:ext cx="5089200" cy="9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Terminologies</a:t>
            </a:r>
            <a:endParaRPr/>
          </a:p>
        </p:txBody>
      </p:sp>
      <p:sp>
        <p:nvSpPr>
          <p:cNvPr id="67" name="Google Shape;67;p4"/>
          <p:cNvSpPr txBox="1"/>
          <p:nvPr/>
        </p:nvSpPr>
        <p:spPr>
          <a:xfrm>
            <a:off x="1813425" y="2949075"/>
            <a:ext cx="15551400" cy="707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700">
            <a:noAutofit/>
          </a:bodyPr>
          <a:lstStyle/>
          <a:p>
            <a:pPr indent="-38735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●"/>
            </a:pPr>
            <a:r>
              <a:rPr b="1" i="0" lang="en-US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Polysomnography (PSG):</a:t>
            </a:r>
            <a:r>
              <a:rPr b="0" i="0" lang="en-US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The gold-standard comprehensive recording of bio physiological changes that occur during sleep, including EEG, EOG, and EMG signals.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735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●"/>
            </a:pPr>
            <a:r>
              <a:rPr b="1" i="0" lang="en-US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Cyclic Alternating Pattern (CAP):</a:t>
            </a:r>
            <a:r>
              <a:rPr b="0" i="0" lang="en-US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 periodic EEG activity characterized by sequences of arousals (Phase A) and background activity (Phase B), used to measure sleep stability and quality.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735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●"/>
            </a:pPr>
            <a:r>
              <a:rPr b="1" i="0" lang="en-US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Continuous Wavelet Transform (CWT):</a:t>
            </a:r>
            <a:r>
              <a:rPr b="0" i="0" lang="en-US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 mathematical tool that provides high-resolution time-frequency representation of EEG, far superior to standard Fourier Transforms for capturing transient micro-arousals.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735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●"/>
            </a:pPr>
            <a:r>
              <a:rPr b="1" i="0" lang="en-US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Voxelization:</a:t>
            </a:r>
            <a:r>
              <a:rPr b="0" i="0" lang="en-US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The process of converting 1D sensor data into a 3D grid of "volume elements" (voxels), effectively turning brain activity into a physical 3D object for AI analysis.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735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●"/>
            </a:pPr>
            <a:r>
              <a:rPr b="1" i="0" lang="en-US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RBF Interpolation:</a:t>
            </a:r>
            <a:r>
              <a:rPr b="0" i="0" lang="en-US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 spatial mapping technique used to estimate brain activity in the "gaps" between physical sensors, creating a continuous and biologically accurate scalp topography.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735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●"/>
            </a:pPr>
            <a:r>
              <a:rPr b="1" i="0" lang="en-US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Spatio-Temporal Tensor:</a:t>
            </a:r>
            <a:r>
              <a:rPr b="0" i="0" lang="en-US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 4D data structure that simultaneously stores the spatial location (x, y), temporal depth (z), and spectral energy (color) of neural events.</a:t>
            </a:r>
            <a:endParaRPr b="1" i="0" sz="2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8" name="Google Shape;6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4309" y="619091"/>
            <a:ext cx="1748275" cy="17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"/>
          <p:cNvSpPr txBox="1"/>
          <p:nvPr>
            <p:ph type="title"/>
          </p:nvPr>
        </p:nvSpPr>
        <p:spPr>
          <a:xfrm>
            <a:off x="6125013" y="198557"/>
            <a:ext cx="6668700" cy="17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69050">
            <a:spAutoFit/>
          </a:bodyPr>
          <a:lstStyle/>
          <a:p>
            <a:pPr indent="0" lvl="0" marL="22479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Literature Review</a:t>
            </a:r>
            <a:endParaRPr/>
          </a:p>
        </p:txBody>
      </p:sp>
      <p:sp>
        <p:nvSpPr>
          <p:cNvPr id="74" name="Google Shape;74;p5"/>
          <p:cNvSpPr/>
          <p:nvPr/>
        </p:nvSpPr>
        <p:spPr>
          <a:xfrm>
            <a:off x="2012029" y="2837917"/>
            <a:ext cx="14894700" cy="7040700"/>
          </a:xfrm>
          <a:prstGeom prst="rect">
            <a:avLst/>
          </a:prstGeom>
          <a:solidFill>
            <a:schemeClr val="lt1"/>
          </a:solidFill>
          <a:ln cap="flat" cmpd="sng" w="93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00" lIns="89400" spcFirstLastPara="1" rIns="89400" wrap="square" tIns="89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69"/>
              <a:buFont typeface="Arial"/>
              <a:buNone/>
            </a:pPr>
            <a:r>
              <a:t/>
            </a:r>
            <a:endParaRPr b="0" i="0" sz="1368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2012029" y="2837917"/>
            <a:ext cx="14894700" cy="1703700"/>
          </a:xfrm>
          <a:prstGeom prst="rect">
            <a:avLst/>
          </a:prstGeom>
          <a:solidFill>
            <a:srgbClr val="F3E5F5"/>
          </a:solidFill>
          <a:ln cap="flat" cmpd="sng" w="93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00" lIns="89400" spcFirstLastPara="1" rIns="89400" wrap="square" tIns="89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69"/>
              <a:buFont typeface="Arial"/>
              <a:buNone/>
            </a:pPr>
            <a:r>
              <a:t/>
            </a:r>
            <a:endParaRPr b="0" i="0" sz="1368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2012029" y="4280228"/>
            <a:ext cx="7550700" cy="5617500"/>
          </a:xfrm>
          <a:prstGeom prst="rect">
            <a:avLst/>
          </a:prstGeom>
          <a:solidFill>
            <a:srgbClr val="E3F2FD"/>
          </a:solidFill>
          <a:ln cap="flat" cmpd="sng" w="93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00" lIns="89400" spcFirstLastPara="1" rIns="89400" wrap="square" tIns="89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47"/>
              <a:buFont typeface="Arial"/>
              <a:buNone/>
            </a:pPr>
            <a:r>
              <a:rPr b="0" i="0" lang="en-US" sz="2346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“An Attention-based Deep Learning Approach for Sleep Stage Classification with Single-Channel EEG”</a:t>
            </a:r>
            <a:endParaRPr b="0" i="0" sz="2346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47"/>
              <a:buFont typeface="Arial"/>
              <a:buNone/>
            </a:pPr>
            <a:r>
              <a:t/>
            </a:r>
            <a:endParaRPr b="0" i="0" sz="2346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47"/>
              <a:buFont typeface="Arial"/>
              <a:buNone/>
            </a:pPr>
            <a:r>
              <a:rPr b="0" i="0" lang="en-US" sz="2346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“Automatic classification of sleep stages using EEG signals and convolutional neural networks”</a:t>
            </a:r>
            <a:endParaRPr b="0" i="0" sz="2346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47"/>
              <a:buFont typeface="Arial"/>
              <a:buNone/>
            </a:pPr>
            <a:r>
              <a:t/>
            </a:r>
            <a:endParaRPr b="0" i="0" sz="2346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47"/>
              <a:buFont typeface="Arial"/>
              <a:buNone/>
            </a:pPr>
            <a:r>
              <a:rPr b="0" i="0" lang="en-US" sz="2346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“deep learning classification of sleep stages using residual neural networks”</a:t>
            </a:r>
            <a:endParaRPr b="0" i="0" sz="2346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9562450" y="4280130"/>
            <a:ext cx="7344300" cy="5617500"/>
          </a:xfrm>
          <a:prstGeom prst="rect">
            <a:avLst/>
          </a:prstGeom>
          <a:solidFill>
            <a:srgbClr val="E8F5E9"/>
          </a:solidFill>
          <a:ln cap="flat" cmpd="sng" w="93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00" lIns="89400" spcFirstLastPara="1" rIns="89400" wrap="square" tIns="89400">
            <a:noAutofit/>
          </a:bodyPr>
          <a:lstStyle/>
          <a:p>
            <a:pPr indent="-372531" lvl="0" marL="44703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47"/>
              <a:buFont typeface="Times New Roman"/>
              <a:buChar char="❖"/>
            </a:pPr>
            <a:r>
              <a:rPr b="0" i="0" lang="en-US" sz="2346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Convert 30s EEG epochs to 2D scalograms/STFT images as CNN input for end-to-end N1-N3/REM classification (95-99% accuracy)</a:t>
            </a:r>
            <a:endParaRPr b="0" i="0" sz="2346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4703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46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2531" lvl="0" marL="44703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47"/>
              <a:buFont typeface="Times New Roman"/>
              <a:buChar char="❖"/>
            </a:pPr>
            <a:r>
              <a:rPr b="0" i="0" lang="en-US" sz="2346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raw single-channel EEG (e.g., Fpz-Cz) with attention-LSTM + HMM for sequential smoothing and expert-level agreement</a:t>
            </a:r>
            <a:endParaRPr b="0" i="0" sz="2346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4703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46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2531" lvl="0" marL="44703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47"/>
              <a:buFont typeface="Times New Roman"/>
              <a:buChar char="❖"/>
            </a:pPr>
            <a:r>
              <a:rPr b="0" i="0" lang="en-US" sz="2346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Apply ResNet residual blocks to capture multi-scale frequency patterns in EEG spectrograms</a:t>
            </a:r>
            <a:endParaRPr b="0" i="0" sz="2346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8" name="Google Shape;78;p5"/>
          <p:cNvSpPr txBox="1"/>
          <p:nvPr/>
        </p:nvSpPr>
        <p:spPr>
          <a:xfrm>
            <a:off x="4933217" y="3065640"/>
            <a:ext cx="1727100" cy="9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00" lIns="89400" spcFirstLastPara="1" rIns="89400" wrap="square" tIns="89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399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Paper</a:t>
            </a:r>
            <a:endParaRPr b="1" i="0" sz="4399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9" name="Google Shape;79;p5"/>
          <p:cNvSpPr txBox="1"/>
          <p:nvPr/>
        </p:nvSpPr>
        <p:spPr>
          <a:xfrm>
            <a:off x="11792356" y="3065640"/>
            <a:ext cx="2884500" cy="9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00" lIns="89400" spcFirstLastPara="1" rIns="89400" wrap="square" tIns="89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399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Ideas Used</a:t>
            </a:r>
            <a:endParaRPr b="1" i="0" sz="4399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6"/>
          <p:cNvSpPr txBox="1"/>
          <p:nvPr>
            <p:ph type="title"/>
          </p:nvPr>
        </p:nvSpPr>
        <p:spPr>
          <a:xfrm>
            <a:off x="6222563" y="216882"/>
            <a:ext cx="6668700" cy="17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69050">
            <a:spAutoFit/>
          </a:bodyPr>
          <a:lstStyle/>
          <a:p>
            <a:pPr indent="0" lvl="0" marL="22479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Literature Review</a:t>
            </a:r>
            <a:endParaRPr/>
          </a:p>
        </p:txBody>
      </p:sp>
      <p:sp>
        <p:nvSpPr>
          <p:cNvPr id="85" name="Google Shape;85;p6"/>
          <p:cNvSpPr/>
          <p:nvPr/>
        </p:nvSpPr>
        <p:spPr>
          <a:xfrm>
            <a:off x="2014915" y="2784877"/>
            <a:ext cx="15084000" cy="7130400"/>
          </a:xfrm>
          <a:prstGeom prst="rect">
            <a:avLst/>
          </a:prstGeom>
          <a:solidFill>
            <a:schemeClr val="lt1"/>
          </a:solidFill>
          <a:ln cap="flat" cmpd="sng" w="94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525" lIns="90525" spcFirstLastPara="1" rIns="90525" wrap="square" tIns="905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86"/>
              <a:buFont typeface="Arial"/>
              <a:buNone/>
            </a:pPr>
            <a:r>
              <a:t/>
            </a:r>
            <a:endParaRPr b="0" i="0" sz="1386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" name="Google Shape;86;p6"/>
          <p:cNvSpPr/>
          <p:nvPr/>
        </p:nvSpPr>
        <p:spPr>
          <a:xfrm>
            <a:off x="2014915" y="2784877"/>
            <a:ext cx="15084000" cy="1725300"/>
          </a:xfrm>
          <a:prstGeom prst="rect">
            <a:avLst/>
          </a:prstGeom>
          <a:solidFill>
            <a:srgbClr val="F3E5F5"/>
          </a:solidFill>
          <a:ln cap="flat" cmpd="sng" w="94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525" lIns="90525" spcFirstLastPara="1" rIns="90525" wrap="square" tIns="905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86"/>
              <a:buFont typeface="Arial"/>
              <a:buNone/>
            </a:pPr>
            <a:r>
              <a:t/>
            </a:r>
            <a:endParaRPr b="0" i="0" sz="1386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" name="Google Shape;87;p6"/>
          <p:cNvSpPr/>
          <p:nvPr/>
        </p:nvSpPr>
        <p:spPr>
          <a:xfrm>
            <a:off x="2014915" y="4245508"/>
            <a:ext cx="7646700" cy="5688900"/>
          </a:xfrm>
          <a:prstGeom prst="rect">
            <a:avLst/>
          </a:prstGeom>
          <a:solidFill>
            <a:srgbClr val="E3F2FD"/>
          </a:solidFill>
          <a:ln cap="flat" cmpd="sng" w="94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525" lIns="90525" spcFirstLastPara="1" rIns="90525" wrap="square" tIns="90525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76"/>
              <a:buFont typeface="Arial"/>
              <a:buNone/>
            </a:pPr>
            <a:r>
              <a:rPr b="0" i="0" lang="en-US" sz="2376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“Automatic Detection of Cortical Arousals in Sleep and their Contribution to Daytime Sleepiness”</a:t>
            </a:r>
            <a:endParaRPr b="0" i="0" sz="2376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76"/>
              <a:buFont typeface="Arial"/>
              <a:buNone/>
            </a:pPr>
            <a:r>
              <a:t/>
            </a:r>
            <a:endParaRPr b="0" i="0" sz="2376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76"/>
              <a:buFont typeface="Arial"/>
              <a:buNone/>
            </a:pPr>
            <a:r>
              <a:rPr b="0" i="0" lang="en-US" sz="2376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“Automatic EEG arousal detection for sleep apnea syndrome”</a:t>
            </a:r>
            <a:endParaRPr b="0" i="0" sz="2376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76"/>
              <a:buFont typeface="Arial"/>
              <a:buNone/>
            </a:pPr>
            <a:r>
              <a:t/>
            </a:r>
            <a:endParaRPr b="0" i="0" sz="2376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76"/>
              <a:buFont typeface="Arial"/>
              <a:buNone/>
            </a:pPr>
            <a:r>
              <a:rPr b="0" i="0" lang="en-US" sz="2376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“A Review of Methods for Sleep Arousal Detection Using Polysomnographic Signals”</a:t>
            </a:r>
            <a:endParaRPr b="1" i="0" sz="1782" u="none" cap="none" strike="noStrike">
              <a:solidFill>
                <a:srgbClr val="1B1B1B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9661245" y="4245409"/>
            <a:ext cx="7437600" cy="5688900"/>
          </a:xfrm>
          <a:prstGeom prst="rect">
            <a:avLst/>
          </a:prstGeom>
          <a:solidFill>
            <a:srgbClr val="E8F5E9"/>
          </a:solidFill>
          <a:ln cap="flat" cmpd="sng" w="94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525" lIns="90525" spcFirstLastPara="1" rIns="90525" wrap="square" tIns="90525">
            <a:noAutofit/>
          </a:bodyPr>
          <a:lstStyle/>
          <a:p>
            <a:pPr indent="-377263" lvl="0" marL="45271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76"/>
              <a:buFont typeface="Times New Roman"/>
              <a:buChar char="❖"/>
            </a:pPr>
            <a:r>
              <a:rPr b="0" i="0" lang="en-US" sz="2376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1D-CNN-GRU hybrid learns morphological spikes in EEG delta/alpha power for 3-15s bursts (F1=0.76 via multitask training)</a:t>
            </a:r>
            <a:endParaRPr b="0" i="0" sz="2376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271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76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7263" lvl="0" marL="45271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76"/>
              <a:buFont typeface="Times New Roman"/>
              <a:buChar char="❖"/>
            </a:pPr>
            <a:r>
              <a:rPr b="0" i="0" lang="en-US" sz="2376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Ensemble boosting on wavelet coefficients + EMG context reduces false positives in noisy data</a:t>
            </a:r>
            <a:endParaRPr b="0" i="0" sz="2376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271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76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7263" lvl="0" marL="45271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76"/>
              <a:buFont typeface="Times New Roman"/>
              <a:buChar char="❖"/>
            </a:pPr>
            <a:r>
              <a:rPr b="0" i="0" lang="en-US" sz="2376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Multichannel fusion (EEG+EOG+EMG) with temporal attention flags arousals per AASM rules</a:t>
            </a:r>
            <a:endParaRPr b="0" i="0" sz="1188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86"/>
              <a:buFont typeface="Arial"/>
              <a:buNone/>
            </a:pPr>
            <a:r>
              <a:t/>
            </a:r>
            <a:endParaRPr b="0" i="0" sz="1386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" name="Google Shape;89;p6"/>
          <p:cNvSpPr txBox="1"/>
          <p:nvPr/>
        </p:nvSpPr>
        <p:spPr>
          <a:xfrm>
            <a:off x="4973210" y="3015492"/>
            <a:ext cx="1749000" cy="9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0525" lIns="90525" spcFirstLastPara="1" rIns="90525" wrap="square" tIns="90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56"/>
              <a:buFont typeface="Arial"/>
              <a:buNone/>
            </a:pPr>
            <a:r>
              <a:rPr b="1" i="0" lang="en-US" sz="445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Paper</a:t>
            </a:r>
            <a:endParaRPr b="1" i="0" sz="4455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p6"/>
          <p:cNvSpPr txBox="1"/>
          <p:nvPr/>
        </p:nvSpPr>
        <p:spPr>
          <a:xfrm>
            <a:off x="11919476" y="3015492"/>
            <a:ext cx="2921400" cy="9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0525" lIns="90525" spcFirstLastPara="1" rIns="90525" wrap="square" tIns="90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56"/>
              <a:buFont typeface="Arial"/>
              <a:buNone/>
            </a:pPr>
            <a:r>
              <a:rPr b="1" i="0" lang="en-US" sz="445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Ideas Used</a:t>
            </a:r>
            <a:endParaRPr b="1" i="0" sz="4455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7"/>
          <p:cNvSpPr txBox="1"/>
          <p:nvPr>
            <p:ph type="title"/>
          </p:nvPr>
        </p:nvSpPr>
        <p:spPr>
          <a:xfrm>
            <a:off x="6085138" y="216857"/>
            <a:ext cx="6668700" cy="17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69050">
            <a:spAutoFit/>
          </a:bodyPr>
          <a:lstStyle/>
          <a:p>
            <a:pPr indent="0" lvl="0" marL="22479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Literature Review</a:t>
            </a:r>
            <a:endParaRPr/>
          </a:p>
        </p:txBody>
      </p:sp>
      <p:sp>
        <p:nvSpPr>
          <p:cNvPr id="96" name="Google Shape;96;p7"/>
          <p:cNvSpPr/>
          <p:nvPr/>
        </p:nvSpPr>
        <p:spPr>
          <a:xfrm>
            <a:off x="1996598" y="2897752"/>
            <a:ext cx="14845800" cy="7017600"/>
          </a:xfrm>
          <a:prstGeom prst="rect">
            <a:avLst/>
          </a:prstGeom>
          <a:solidFill>
            <a:schemeClr val="lt1"/>
          </a:solidFill>
          <a:ln cap="flat" cmpd="sng" w="92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100" lIns="89100" spcFirstLastPara="1" rIns="89100" wrap="square" tIns="89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64"/>
              <a:buFont typeface="Arial"/>
              <a:buNone/>
            </a:pPr>
            <a:r>
              <a:t/>
            </a:r>
            <a:endParaRPr b="0" i="0" sz="1364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" name="Google Shape;97;p7"/>
          <p:cNvSpPr/>
          <p:nvPr/>
        </p:nvSpPr>
        <p:spPr>
          <a:xfrm>
            <a:off x="1996598" y="2897752"/>
            <a:ext cx="14845800" cy="1698000"/>
          </a:xfrm>
          <a:prstGeom prst="rect">
            <a:avLst/>
          </a:prstGeom>
          <a:solidFill>
            <a:srgbClr val="F3E5F5"/>
          </a:solidFill>
          <a:ln cap="flat" cmpd="sng" w="92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100" lIns="89100" spcFirstLastPara="1" rIns="89100" wrap="square" tIns="89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64"/>
              <a:buFont typeface="Arial"/>
              <a:buNone/>
            </a:pPr>
            <a:r>
              <a:t/>
            </a:r>
            <a:endParaRPr b="0" i="0" sz="1364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" name="Google Shape;98;p7"/>
          <p:cNvSpPr/>
          <p:nvPr/>
        </p:nvSpPr>
        <p:spPr>
          <a:xfrm>
            <a:off x="2015505" y="4335323"/>
            <a:ext cx="7506900" cy="5599200"/>
          </a:xfrm>
          <a:prstGeom prst="rect">
            <a:avLst/>
          </a:prstGeom>
          <a:solidFill>
            <a:srgbClr val="E3F2FD"/>
          </a:solidFill>
          <a:ln cap="flat" cmpd="sng" w="92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100" lIns="89100" spcFirstLastPara="1" rIns="89100" wrap="square" tIns="8910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39"/>
              <a:buFont typeface="Arial"/>
              <a:buNone/>
            </a:pPr>
            <a:r>
              <a:rPr b="0" i="0" lang="en-US" sz="2338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“Deep learning of sleep apnea-hypopnea events for accurate classification of obstructive sleep apnea and determination of clinical severity”</a:t>
            </a:r>
            <a:endParaRPr b="0" i="0" sz="2338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39"/>
              <a:buFont typeface="Arial"/>
              <a:buNone/>
            </a:pPr>
            <a:r>
              <a:t/>
            </a:r>
            <a:endParaRPr b="0" i="0" sz="2338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39"/>
              <a:buFont typeface="Arial"/>
              <a:buNone/>
            </a:pPr>
            <a:r>
              <a:rPr b="0" i="0" lang="en-US" sz="2338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“AI-Enabled Algorithm for Automatic Classification of Sleep Disorders Based on Single-Lead Electrocardiogram”</a:t>
            </a:r>
            <a:endParaRPr b="0" i="0" sz="2338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39"/>
              <a:buFont typeface="Arial"/>
              <a:buNone/>
            </a:pPr>
            <a:r>
              <a:t/>
            </a:r>
            <a:endParaRPr b="0" i="0" sz="2338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39"/>
              <a:buFont typeface="Arial"/>
              <a:buNone/>
            </a:pPr>
            <a:r>
              <a:rPr b="0" i="0" lang="en-US" sz="2338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“Multi-task CNN-LSTM predicts joint staging + events, balancing losses via genetic algorithms.”</a:t>
            </a:r>
            <a:endParaRPr b="1" i="0" sz="1754" u="none" cap="none" strike="noStrike">
              <a:solidFill>
                <a:srgbClr val="1B1B1B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9" name="Google Shape;99;p7"/>
          <p:cNvSpPr/>
          <p:nvPr/>
        </p:nvSpPr>
        <p:spPr>
          <a:xfrm>
            <a:off x="9522218" y="4335225"/>
            <a:ext cx="7320300" cy="5599200"/>
          </a:xfrm>
          <a:prstGeom prst="rect">
            <a:avLst/>
          </a:prstGeom>
          <a:solidFill>
            <a:srgbClr val="E8F5E9"/>
          </a:solidFill>
          <a:ln cap="flat" cmpd="sng" w="92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100" lIns="89100" spcFirstLastPara="1" rIns="89100" wrap="square" tIns="89100">
            <a:noAutofit/>
          </a:bodyPr>
          <a:lstStyle/>
          <a:p>
            <a:pPr indent="-371306" lvl="0" marL="44556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39"/>
              <a:buFont typeface="Times New Roman"/>
              <a:buChar char="❖"/>
            </a:pPr>
            <a:r>
              <a:rPr b="0" i="0" lang="en-US" sz="2338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YOLOv8/R-CNN on STFT detects apnea as low-frequency voids, outputting AHI/severity scores (AUC=0.98)</a:t>
            </a:r>
            <a:endParaRPr b="0" i="0" sz="2338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4556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38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1306" lvl="0" marL="44556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39"/>
              <a:buFont typeface="Times New Roman"/>
              <a:buChar char="❖"/>
            </a:pPr>
            <a:r>
              <a:rPr b="0" i="0" lang="en-US" sz="2338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SDN (CNN+GRU) extracts cyclic rhythms from ECG surrogates for PLM/RBD screening without full EEG</a:t>
            </a:r>
            <a:endParaRPr b="0" i="0" sz="2338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4556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38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1306" lvl="0" marL="44556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39"/>
              <a:buFont typeface="Times New Roman"/>
              <a:buChar char="❖"/>
            </a:pPr>
            <a:r>
              <a:rPr b="0" i="0" lang="en-US" sz="2338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Multi-task CNN-LSTM predicts joint staging + events, balancing losses via genetic algorithms</a:t>
            </a:r>
            <a:endParaRPr b="0" i="0" sz="1169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39"/>
              <a:buFont typeface="Arial"/>
              <a:buNone/>
            </a:pPr>
            <a:r>
              <a:t/>
            </a:r>
            <a:endParaRPr b="0" i="0" sz="2338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0" name="Google Shape;100;p7"/>
          <p:cNvSpPr txBox="1"/>
          <p:nvPr/>
        </p:nvSpPr>
        <p:spPr>
          <a:xfrm>
            <a:off x="4908191" y="3124727"/>
            <a:ext cx="1721400" cy="9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89100" lIns="89100" spcFirstLastPara="1" rIns="89100" wrap="square" tIns="89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86"/>
              <a:buFont typeface="Arial"/>
              <a:buNone/>
            </a:pPr>
            <a:r>
              <a:rPr b="1" i="0" lang="en-US" sz="438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Paper</a:t>
            </a:r>
            <a:endParaRPr b="1" i="0" sz="4385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" name="Google Shape;101;p7"/>
          <p:cNvSpPr txBox="1"/>
          <p:nvPr/>
        </p:nvSpPr>
        <p:spPr>
          <a:xfrm>
            <a:off x="11744800" y="3124727"/>
            <a:ext cx="2875200" cy="9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89100" lIns="89100" spcFirstLastPara="1" rIns="89100" wrap="square" tIns="89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86"/>
              <a:buFont typeface="Arial"/>
              <a:buNone/>
            </a:pPr>
            <a:r>
              <a:rPr b="1" i="0" lang="en-US" sz="438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Ideas Used</a:t>
            </a:r>
            <a:endParaRPr b="1" i="0" sz="4385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8"/>
          <p:cNvSpPr txBox="1"/>
          <p:nvPr>
            <p:ph type="title"/>
          </p:nvPr>
        </p:nvSpPr>
        <p:spPr>
          <a:xfrm>
            <a:off x="5809638" y="357582"/>
            <a:ext cx="6668700" cy="12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91750">
            <a:spAutoFit/>
          </a:bodyPr>
          <a:lstStyle/>
          <a:p>
            <a:pPr indent="0" lvl="0" marL="7486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Block Diagram</a:t>
            </a:r>
            <a:endParaRPr/>
          </a:p>
        </p:txBody>
      </p:sp>
      <p:pic>
        <p:nvPicPr>
          <p:cNvPr id="107" name="Google Shape;10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29140" y="1860210"/>
            <a:ext cx="12046991" cy="8041131"/>
          </a:xfrm>
          <a:prstGeom prst="rect">
            <a:avLst/>
          </a:prstGeom>
          <a:noFill/>
          <a:ln cap="flat" cmpd="sng" w="9525">
            <a:solidFill>
              <a:srgbClr val="FFF9C4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9"/>
          <p:cNvSpPr txBox="1"/>
          <p:nvPr>
            <p:ph type="title"/>
          </p:nvPr>
        </p:nvSpPr>
        <p:spPr>
          <a:xfrm>
            <a:off x="6254775" y="271843"/>
            <a:ext cx="6668700" cy="17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69050">
            <a:spAutoFit/>
          </a:bodyPr>
          <a:lstStyle/>
          <a:p>
            <a:pPr indent="0" lvl="0" marL="3568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Data Preparation</a:t>
            </a:r>
            <a:endParaRPr/>
          </a:p>
        </p:txBody>
      </p:sp>
      <p:sp>
        <p:nvSpPr>
          <p:cNvPr id="113" name="Google Shape;113;p9"/>
          <p:cNvSpPr txBox="1"/>
          <p:nvPr/>
        </p:nvSpPr>
        <p:spPr>
          <a:xfrm>
            <a:off x="1831725" y="2789775"/>
            <a:ext cx="15533100" cy="66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81275">
            <a:noAutofit/>
          </a:bodyPr>
          <a:lstStyle/>
          <a:p>
            <a:pPr indent="-4064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❖"/>
            </a:pPr>
            <a:r>
              <a:rPr b="1" lang="en-US" sz="2800">
                <a:solidFill>
                  <a:schemeClr val="dk1"/>
                </a:solidFill>
              </a:rPr>
              <a:t>Data Source: Multi Channel Polysomnography Input</a:t>
            </a:r>
            <a:endParaRPr b="1" sz="2800">
              <a:solidFill>
                <a:schemeClr val="dk1"/>
              </a:solidFill>
            </a:endParaRPr>
          </a:p>
          <a:p>
            <a:pPr indent="-406400" lvl="1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➢"/>
            </a:pPr>
            <a:r>
              <a:rPr lang="en-US" sz="2500">
                <a:solidFill>
                  <a:schemeClr val="dk1"/>
                </a:solidFill>
              </a:rPr>
              <a:t>Source – Raw ‘.edf’ files from the Dataset.</a:t>
            </a:r>
            <a:endParaRPr sz="2500">
              <a:solidFill>
                <a:schemeClr val="dk1"/>
              </a:solidFill>
            </a:endParaRPr>
          </a:p>
          <a:p>
            <a:pPr indent="-406400" lvl="1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➢"/>
            </a:pPr>
            <a:r>
              <a:rPr lang="en-US" sz="2500">
                <a:solidFill>
                  <a:schemeClr val="dk1"/>
                </a:solidFill>
              </a:rPr>
              <a:t>Sensors – Selection of sensors to cover the Lobes of the Brain</a:t>
            </a:r>
            <a:endParaRPr sz="2800">
              <a:solidFill>
                <a:schemeClr val="dk1"/>
              </a:solidFill>
            </a:endParaRPr>
          </a:p>
          <a:p>
            <a:pPr indent="-406400" lvl="0" marL="457200" marR="0" rtl="0" algn="just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❖"/>
            </a:pPr>
            <a:r>
              <a:rPr lang="en-US" sz="2800">
                <a:solidFill>
                  <a:schemeClr val="dk1"/>
                </a:solidFill>
              </a:rPr>
              <a:t> </a:t>
            </a:r>
            <a:r>
              <a:rPr b="1" lang="en-US" sz="2800">
                <a:solidFill>
                  <a:schemeClr val="dk1"/>
                </a:solidFill>
              </a:rPr>
              <a:t>Pre-Processing and Signal Integrity</a:t>
            </a:r>
            <a:endParaRPr b="1" sz="2800">
              <a:solidFill>
                <a:schemeClr val="dk1"/>
              </a:solidFill>
            </a:endParaRPr>
          </a:p>
          <a:p>
            <a:pPr indent="-406400" lvl="1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➢"/>
            </a:pPr>
            <a:r>
              <a:rPr lang="en-US" sz="2500">
                <a:solidFill>
                  <a:schemeClr val="dk1"/>
                </a:solidFill>
              </a:rPr>
              <a:t>Band Pass Filter - 0.5Hz to 45Hz to remove powerline noise and non-physiological drift while preserving all EEG bands (delta through gamma)</a:t>
            </a:r>
            <a:endParaRPr sz="2500">
              <a:solidFill>
                <a:schemeClr val="dk1"/>
              </a:solidFill>
            </a:endParaRPr>
          </a:p>
          <a:p>
            <a:pPr indent="-406400" lvl="1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➢"/>
            </a:pPr>
            <a:r>
              <a:rPr lang="en-US" sz="2500">
                <a:solidFill>
                  <a:schemeClr val="dk1"/>
                </a:solidFill>
              </a:rPr>
              <a:t>Artifact Rejection - Removal of non Cerebral Signals (EOG/EMG) to prevent hallucinated outputs.</a:t>
            </a:r>
            <a:endParaRPr sz="2500">
              <a:solidFill>
                <a:schemeClr val="dk1"/>
              </a:solidFill>
            </a:endParaRPr>
          </a:p>
          <a:p>
            <a:pPr indent="-406400" lvl="1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➢"/>
            </a:pPr>
            <a:r>
              <a:rPr lang="en-US" sz="2500">
                <a:solidFill>
                  <a:schemeClr val="dk1"/>
                </a:solidFill>
              </a:rPr>
              <a:t>Time Alignment - Creating epochs of 30s each with Sleep Stage annotations.</a:t>
            </a:r>
            <a:endParaRPr sz="2800">
              <a:solidFill>
                <a:schemeClr val="dk1"/>
              </a:solidFill>
            </a:endParaRPr>
          </a:p>
          <a:p>
            <a:pPr indent="-406400" lvl="0" marL="457200" marR="0" rtl="0" algn="just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❖"/>
            </a:pPr>
            <a:r>
              <a:rPr b="1" lang="en-US" sz="2800">
                <a:solidFill>
                  <a:schemeClr val="dk1"/>
                </a:solidFill>
              </a:rPr>
              <a:t>Global Power Anchoring</a:t>
            </a:r>
            <a:endParaRPr b="1" sz="2800">
              <a:solidFill>
                <a:schemeClr val="dk1"/>
              </a:solidFill>
            </a:endParaRPr>
          </a:p>
          <a:p>
            <a:pPr indent="-406400" lvl="1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➢"/>
            </a:pPr>
            <a:r>
              <a:rPr lang="en-US" sz="2500">
                <a:solidFill>
                  <a:schemeClr val="dk1"/>
                </a:solidFill>
              </a:rPr>
              <a:t>Local normalization masks the intensity gap between deep sleep and violent arousals.</a:t>
            </a:r>
            <a:endParaRPr sz="2500">
              <a:solidFill>
                <a:schemeClr val="dk1"/>
              </a:solidFill>
            </a:endParaRPr>
          </a:p>
          <a:p>
            <a:pPr indent="-406400" lvl="1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➢"/>
            </a:pPr>
            <a:r>
              <a:rPr lang="en-US" sz="2500">
                <a:solidFill>
                  <a:schemeClr val="dk1"/>
                </a:solidFill>
              </a:rPr>
              <a:t>Calculating an Absolute Global Anchor ensures that a particular intensity represents the same absolute intensity across the entire dataset</a:t>
            </a:r>
            <a:endParaRPr b="1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0"/>
          <p:cNvSpPr txBox="1"/>
          <p:nvPr>
            <p:ph type="title"/>
          </p:nvPr>
        </p:nvSpPr>
        <p:spPr>
          <a:xfrm>
            <a:off x="3496275" y="246790"/>
            <a:ext cx="12785400" cy="17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69050">
            <a:spAutoFit/>
          </a:bodyPr>
          <a:lstStyle/>
          <a:p>
            <a:pPr indent="0" lvl="0" marL="35687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Pre-Processing and Signal Integrity</a:t>
            </a:r>
            <a:endParaRPr/>
          </a:p>
        </p:txBody>
      </p:sp>
      <p:sp>
        <p:nvSpPr>
          <p:cNvPr id="119" name="Google Shape;119;p10"/>
          <p:cNvSpPr txBox="1"/>
          <p:nvPr/>
        </p:nvSpPr>
        <p:spPr>
          <a:xfrm>
            <a:off x="1940925" y="3095617"/>
            <a:ext cx="15896100" cy="641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81275">
            <a:no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Band Pass Filter Algorithm:</a:t>
            </a:r>
            <a:endParaRPr b="1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0" marL="457200" marR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❖"/>
            </a:pP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Type: </a:t>
            </a:r>
            <a:r>
              <a:rPr lang="en-US" sz="2600">
                <a:solidFill>
                  <a:schemeClr val="dk1"/>
                </a:solidFill>
              </a:rPr>
              <a:t>FIR (Finite Impulse Response) — firwin design via MNE</a:t>
            </a:r>
            <a:r>
              <a:rPr lang="en-US" sz="2500">
                <a:solidFill>
                  <a:schemeClr val="dk1"/>
                </a:solidFill>
              </a:rPr>
              <a:t> </a:t>
            </a:r>
            <a:endParaRPr b="1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❖"/>
            </a:pP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Purpose: </a:t>
            </a:r>
            <a:r>
              <a:rPr lang="en-US" sz="2600">
                <a:solidFill>
                  <a:schemeClr val="dk1"/>
                </a:solidFill>
              </a:rPr>
              <a:t>Remove frequencies outside</a:t>
            </a: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0.5–45 Hz 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range</a:t>
            </a: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1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❖"/>
            </a:pP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Eliminates powerline noise (50/60 Hz) and DC drift </a:t>
            </a:r>
            <a:endParaRPr b="1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❖"/>
            </a:pP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Preserves all EEG bands: </a:t>
            </a:r>
            <a:r>
              <a:rPr lang="en-US" sz="2600">
                <a:solidFill>
                  <a:schemeClr val="dk1"/>
                </a:solidFill>
              </a:rPr>
              <a:t>delta, theta, alpha, beta, gamma</a:t>
            </a:r>
            <a:endParaRPr sz="2600">
              <a:solidFill>
                <a:schemeClr val="dk1"/>
              </a:solidFill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Artifact Rejection Algorithm:</a:t>
            </a:r>
            <a:endParaRPr b="1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0" marL="457200" marR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❖"/>
            </a:pP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Type: FIR (Finite Impulse Response) —</a:t>
            </a:r>
            <a:r>
              <a:rPr b="1" i="0" lang="en-US" sz="2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00">
                <a:solidFill>
                  <a:schemeClr val="dk1"/>
                </a:solidFill>
              </a:rPr>
              <a:t>firwin design via MNE Purpose: </a:t>
            </a:r>
            <a:endParaRPr b="0" i="0" sz="2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❖"/>
            </a:pP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Remove frequencies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00">
                <a:solidFill>
                  <a:schemeClr val="dk1"/>
                </a:solidFill>
              </a:rPr>
              <a:t>outside 0.5–45 Hz range Eliminates powerline noise (50/60 Hz) and DC drift Preserves all EEG bands: delta, theta, alpha, beta, gamma</a:t>
            </a:r>
            <a:endParaRPr b="0" i="0" sz="5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1"/>
          <p:cNvSpPr txBox="1"/>
          <p:nvPr>
            <p:ph type="title"/>
          </p:nvPr>
        </p:nvSpPr>
        <p:spPr>
          <a:xfrm>
            <a:off x="8128444" y="81925"/>
            <a:ext cx="3210000" cy="17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6905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Contd...</a:t>
            </a:r>
            <a:endParaRPr/>
          </a:p>
        </p:txBody>
      </p:sp>
      <p:sp>
        <p:nvSpPr>
          <p:cNvPr id="125" name="Google Shape;125;p11"/>
          <p:cNvSpPr txBox="1"/>
          <p:nvPr/>
        </p:nvSpPr>
        <p:spPr>
          <a:xfrm>
            <a:off x="1813425" y="3077300"/>
            <a:ext cx="15551400" cy="56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81275">
            <a:noAutofit/>
          </a:bodyPr>
          <a:lstStyle/>
          <a:p>
            <a:pPr indent="-406400" lvl="0" marL="457200" marR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❖"/>
            </a:pP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Template matching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-</a:t>
            </a:r>
            <a:r>
              <a:rPr lang="en-US" sz="2600">
                <a:solidFill>
                  <a:schemeClr val="dk1"/>
                </a:solidFill>
              </a:rPr>
              <a:t> recognizes characteristic EOG/EMG patterns and removes them</a:t>
            </a:r>
            <a:endParaRPr sz="2600">
              <a:solidFill>
                <a:schemeClr val="dk1"/>
              </a:solidFill>
            </a:endParaRPr>
          </a:p>
          <a:p>
            <a:pPr indent="-4064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❖"/>
            </a:pPr>
            <a:r>
              <a:rPr lang="en-US" sz="2600">
                <a:solidFill>
                  <a:schemeClr val="dk1"/>
                </a:solidFill>
              </a:rPr>
              <a:t>Prevents eye movements and muscle activity from being misclassified as brain signals</a:t>
            </a:r>
            <a:endParaRPr sz="2600">
              <a:solidFill>
                <a:schemeClr val="dk1"/>
              </a:solidFill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Time Alignment/Epoch Creation:</a:t>
            </a:r>
            <a:endParaRPr b="1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0" marL="457200" marR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❖"/>
            </a:pP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Windowing algorithm — </a:t>
            </a:r>
            <a:r>
              <a:rPr lang="en-US" sz="2600">
                <a:solidFill>
                  <a:schemeClr val="dk1"/>
                </a:solidFill>
              </a:rPr>
              <a:t>divides continuous signal into fixed 30-second non-overlapping windows</a:t>
            </a: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1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❖"/>
            </a:pPr>
            <a:r>
              <a:rPr lang="en-US" sz="2600">
                <a:solidFill>
                  <a:schemeClr val="dk1"/>
                </a:solidFill>
              </a:rPr>
              <a:t>Each epoch is labelled with one sleep stage annotation (Wake, N1, N2, N3, REM) from the paired .edf.st file 30 seconds chosen to match CAP annotation granularity exactly — one epoch = one unambiguous label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2"/>
          <p:cNvSpPr txBox="1"/>
          <p:nvPr>
            <p:ph type="title"/>
          </p:nvPr>
        </p:nvSpPr>
        <p:spPr>
          <a:xfrm>
            <a:off x="5547825" y="283429"/>
            <a:ext cx="8682300" cy="17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6905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Global</a:t>
            </a:r>
            <a:r>
              <a:rPr lang="en-US" sz="30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/>
              <a:t>Power Anchoring</a:t>
            </a:r>
            <a:endParaRPr/>
          </a:p>
        </p:txBody>
      </p:sp>
      <p:sp>
        <p:nvSpPr>
          <p:cNvPr id="131" name="Google Shape;131;p12"/>
          <p:cNvSpPr txBox="1"/>
          <p:nvPr/>
        </p:nvSpPr>
        <p:spPr>
          <a:xfrm>
            <a:off x="1813425" y="2782325"/>
            <a:ext cx="15569700" cy="7005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81275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Normalization Algorithm:</a:t>
            </a:r>
            <a:endParaRPr b="1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❖"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Local normalization masks true intensity differences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❖"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Solution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Global percentile anchoring across all patients.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Algorithm steps:</a:t>
            </a:r>
            <a:endParaRPr b="1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AutoNum type="arabicPeriod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Compute signal variance per epoch (fast broadband proxy) 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AutoNum type="arabicPeriod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Collect variance values across all sampled patients 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AutoNum type="arabicPeriod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Set vmin = 1st percentile, vmax = 99th percentile 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AutoNum type="arabicPeriod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Compute per-band scale factors using STFT on a reference epoch 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Three independent normalisation ranges — one per band: delta (B), alpha (G), beta (R) — because delta power is</a:t>
            </a:r>
            <a:r>
              <a:rPr lang="en-US" sz="2400">
                <a:solidFill>
                  <a:schemeClr val="dk1"/>
                </a:solidFill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10–100× larger than beta in absolute µV² 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AutoNum type="arabicPeriod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Normalise: normed = clip((value − vmin)/(vmax − vmin), 0, 1) 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</a:rPr>
              <a:t>Clips top 1% (artifacts/movement) and bottom 1% (true silence) ensuring colours are comparable across all patients and epochs</a:t>
            </a:r>
            <a:endParaRPr b="1" i="0" sz="5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3"/>
          <p:cNvSpPr txBox="1"/>
          <p:nvPr>
            <p:ph type="title"/>
          </p:nvPr>
        </p:nvSpPr>
        <p:spPr>
          <a:xfrm>
            <a:off x="3027867" y="276200"/>
            <a:ext cx="15352800" cy="17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69050">
            <a:spAutoFit/>
          </a:bodyPr>
          <a:lstStyle/>
          <a:p>
            <a:pPr indent="0" lvl="0" marL="35687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6000"/>
              <a:t>Feature Engineering &amp; Tensor Construction</a:t>
            </a:r>
            <a:endParaRPr sz="6000"/>
          </a:p>
        </p:txBody>
      </p:sp>
      <p:sp>
        <p:nvSpPr>
          <p:cNvPr id="137" name="Google Shape;137;p13"/>
          <p:cNvSpPr txBox="1"/>
          <p:nvPr/>
        </p:nvSpPr>
        <p:spPr>
          <a:xfrm>
            <a:off x="1831725" y="2692650"/>
            <a:ext cx="15533100" cy="72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1275">
            <a:spAutoFit/>
          </a:bodyPr>
          <a:lstStyle/>
          <a:p>
            <a:pPr indent="-425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100"/>
              <a:buFont typeface="Arial"/>
              <a:buChar char="❖"/>
            </a:pPr>
            <a:r>
              <a:rPr b="1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Spectral Transformation: Bandpass-STFT</a:t>
            </a:r>
            <a:endParaRPr b="1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25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100"/>
              <a:buFont typeface="Arial"/>
              <a:buChar char="➢"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Signal is bandpass-filtered into 3 bands before STFT.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25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100"/>
              <a:buFont typeface="Arial"/>
              <a:buChar char="➢"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Butterworth order-4 filter applied per band eliminates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25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100"/>
              <a:buFont typeface="Arial"/>
              <a:buChar char="➢"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cross-band spectral leakage — a wave at 3.85 Hz cannot contaminate the alpha or theta bins.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25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100"/>
              <a:buFont typeface="Arial"/>
              <a:buChar char="➢"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STFT: 4-second Hann window, 1-second hop → 1 scalar per second per channel per band.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25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100"/>
              <a:buFont typeface="Arial"/>
              <a:buChar char="❖"/>
            </a:pPr>
            <a:r>
              <a:rPr b="1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Spatial Mapping: RBF Interpolation</a:t>
            </a:r>
            <a:endParaRPr b="1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25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100"/>
              <a:buFont typeface="Arial"/>
              <a:buChar char="➢"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 bipolar EEG channels mapped to 32×32 scalp grid.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25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100"/>
              <a:buFont typeface="Arial"/>
              <a:buChar char="➢"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Thin-plate-spline RBF kernel. Electrode-range clipping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25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100"/>
              <a:buFont typeface="Arial"/>
              <a:buChar char="➢"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applied to remove overshoot artifacts</a:t>
            </a:r>
            <a:r>
              <a:rPr b="1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1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25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100"/>
              <a:buFont typeface="Arial"/>
              <a:buChar char="❖"/>
            </a:pPr>
            <a:r>
              <a:rPr b="1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4D Tensor: The Voxel Cube</a:t>
            </a:r>
            <a:endParaRPr b="1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25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100"/>
              <a:buFont typeface="Arial"/>
              <a:buChar char="➢"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Shape: (30, 32, 32, 3) — (T, H, W, C)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25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100"/>
              <a:buFont typeface="Arial"/>
              <a:buChar char="➢"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T=30 time slices (1s each), H=W=32 spatial grid, C=3 bands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25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100"/>
              <a:buFont typeface="Arial"/>
              <a:buChar char="➢"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 = beta power (13–30 Hz) — arousals, wakefulness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25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100"/>
              <a:buFont typeface="Arial"/>
              <a:buChar char="➢"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 = alpha power (8–13 Hz) — spindles, drowsiness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25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100"/>
              <a:buFont typeface="Arial"/>
              <a:buChar char="➢"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 = delta power (0.5–4 Hz) — deep slow-wave sleep N3</a:t>
            </a:r>
            <a:endParaRPr b="1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4"/>
          <p:cNvSpPr txBox="1"/>
          <p:nvPr>
            <p:ph type="title"/>
          </p:nvPr>
        </p:nvSpPr>
        <p:spPr>
          <a:xfrm>
            <a:off x="2647773" y="329725"/>
            <a:ext cx="14201400" cy="27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69050">
            <a:spAutoFit/>
          </a:bodyPr>
          <a:lstStyle/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5400"/>
              <a:t>Spectral Transformation: Bandpass-STFT</a:t>
            </a:r>
            <a:endParaRPr sz="3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5700"/>
          </a:p>
        </p:txBody>
      </p:sp>
      <p:sp>
        <p:nvSpPr>
          <p:cNvPr id="143" name="Google Shape;143;p14"/>
          <p:cNvSpPr/>
          <p:nvPr/>
        </p:nvSpPr>
        <p:spPr>
          <a:xfrm>
            <a:off x="1624849" y="2608037"/>
            <a:ext cx="15968400" cy="7358400"/>
          </a:xfrm>
          <a:prstGeom prst="rect">
            <a:avLst/>
          </a:prstGeom>
          <a:solidFill>
            <a:srgbClr val="F3E5F5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4" name="Google Shape;144;p14"/>
          <p:cNvSpPr txBox="1"/>
          <p:nvPr>
            <p:ph idx="2" type="body"/>
          </p:nvPr>
        </p:nvSpPr>
        <p:spPr>
          <a:xfrm>
            <a:off x="10074525" y="2784375"/>
            <a:ext cx="7308600" cy="7002900"/>
          </a:xfrm>
          <a:prstGeom prst="rect">
            <a:avLst/>
          </a:prstGeom>
          <a:solidFill>
            <a:srgbClr val="E8F5E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18288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lang="en-US" u="none">
                <a:latin typeface="Arial"/>
                <a:ea typeface="Arial"/>
                <a:cs typeface="Arial"/>
                <a:sym typeface="Arial"/>
              </a:rPr>
              <a:t>Why Hann window:</a:t>
            </a:r>
            <a:endParaRPr b="1" u="none">
              <a:latin typeface="Arial"/>
              <a:ea typeface="Arial"/>
              <a:cs typeface="Arial"/>
              <a:sym typeface="Arial"/>
            </a:endParaRPr>
          </a:p>
          <a:p>
            <a:pPr indent="0" lvl="0" marL="18288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</a:pPr>
            <a:r>
              <a:rPr lang="en-US" sz="2500" u="none">
                <a:latin typeface="Arial"/>
                <a:ea typeface="Arial"/>
                <a:cs typeface="Arial"/>
                <a:sym typeface="Arial"/>
              </a:rPr>
              <a:t>Tapers signal to zero at window edges → eliminates</a:t>
            </a:r>
            <a:endParaRPr sz="2500" u="none">
              <a:latin typeface="Arial"/>
              <a:ea typeface="Arial"/>
              <a:cs typeface="Arial"/>
              <a:sym typeface="Arial"/>
            </a:endParaRPr>
          </a:p>
          <a:p>
            <a:pPr indent="0" lvl="0" marL="182880" marR="18288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en-US" sz="2500" u="none">
                <a:latin typeface="Arial"/>
                <a:ea typeface="Arial"/>
                <a:cs typeface="Arial"/>
                <a:sym typeface="Arial"/>
              </a:rPr>
              <a:t>edge ringing artifacts (spectral leakage)</a:t>
            </a:r>
            <a:endParaRPr sz="2500" u="none">
              <a:latin typeface="Arial"/>
              <a:ea typeface="Arial"/>
              <a:cs typeface="Arial"/>
              <a:sym typeface="Arial"/>
            </a:endParaRPr>
          </a:p>
          <a:p>
            <a:pPr indent="0" lvl="0" marL="18288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t/>
            </a:r>
            <a:endParaRPr sz="2500" u="none">
              <a:latin typeface="Arial"/>
              <a:ea typeface="Arial"/>
              <a:cs typeface="Arial"/>
              <a:sym typeface="Arial"/>
            </a:endParaRPr>
          </a:p>
          <a:p>
            <a:pPr indent="0" lvl="0" marL="18288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b="1" lang="en-US" sz="2500" u="none">
                <a:latin typeface="Arial"/>
                <a:ea typeface="Arial"/>
                <a:cs typeface="Arial"/>
                <a:sym typeface="Arial"/>
              </a:rPr>
              <a:t>Why 4-second window (400 samples at 100 Hz):</a:t>
            </a:r>
            <a:endParaRPr b="1" sz="2500" u="none">
              <a:latin typeface="Arial"/>
              <a:ea typeface="Arial"/>
              <a:cs typeface="Arial"/>
              <a:sym typeface="Arial"/>
            </a:endParaRPr>
          </a:p>
          <a:p>
            <a:pPr indent="0" lvl="0" marL="18288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en-US" sz="2500" u="none">
                <a:latin typeface="Arial"/>
                <a:ea typeface="Arial"/>
                <a:cs typeface="Arial"/>
                <a:sym typeface="Arial"/>
              </a:rPr>
              <a:t>Frequency resolution = 100/400 = 0.25 Hz per bin</a:t>
            </a:r>
            <a:endParaRPr sz="2500" u="none">
              <a:latin typeface="Arial"/>
              <a:ea typeface="Arial"/>
              <a:cs typeface="Arial"/>
              <a:sym typeface="Arial"/>
            </a:endParaRPr>
          </a:p>
          <a:p>
            <a:pPr indent="0" lvl="0" marL="18288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en-US" sz="2500" u="none">
                <a:latin typeface="Arial"/>
                <a:ea typeface="Arial"/>
                <a:cs typeface="Arial"/>
                <a:sym typeface="Arial"/>
              </a:rPr>
              <a:t>Sufficient to resolve 0.5 Hz delta waves accurately</a:t>
            </a:r>
            <a:endParaRPr sz="2500" u="none">
              <a:latin typeface="Arial"/>
              <a:ea typeface="Arial"/>
              <a:cs typeface="Arial"/>
              <a:sym typeface="Arial"/>
            </a:endParaRPr>
          </a:p>
          <a:p>
            <a:pPr indent="0" lvl="0" marL="18288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en-US" sz="2500" u="none">
                <a:latin typeface="Arial"/>
                <a:ea typeface="Arial"/>
                <a:cs typeface="Arial"/>
                <a:sym typeface="Arial"/>
              </a:rPr>
              <a:t>A 1-second window only gives 1.0 Hz resolution</a:t>
            </a:r>
            <a:endParaRPr sz="2500" u="none">
              <a:latin typeface="Arial"/>
              <a:ea typeface="Arial"/>
              <a:cs typeface="Arial"/>
              <a:sym typeface="Arial"/>
            </a:endParaRPr>
          </a:p>
          <a:p>
            <a:pPr indent="0" lvl="0" marL="18288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en-US" sz="2500" u="none">
                <a:latin typeface="Arial"/>
                <a:ea typeface="Arial"/>
                <a:cs typeface="Arial"/>
                <a:sym typeface="Arial"/>
              </a:rPr>
              <a:t>cannot distinguish 0.5 Hz from 1.0 Hz</a:t>
            </a:r>
            <a:endParaRPr/>
          </a:p>
        </p:txBody>
      </p:sp>
      <p:sp>
        <p:nvSpPr>
          <p:cNvPr id="145" name="Google Shape;145;p14"/>
          <p:cNvSpPr txBox="1"/>
          <p:nvPr>
            <p:ph idx="1" type="body"/>
          </p:nvPr>
        </p:nvSpPr>
        <p:spPr>
          <a:xfrm>
            <a:off x="1813425" y="2784225"/>
            <a:ext cx="7803300" cy="7002900"/>
          </a:xfrm>
          <a:prstGeom prst="rect">
            <a:avLst/>
          </a:prstGeom>
          <a:solidFill>
            <a:srgbClr val="E3F2FD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182880" marR="18288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lang="en-US" sz="2400" u="none">
                <a:latin typeface="Arial"/>
                <a:ea typeface="Arial"/>
                <a:cs typeface="Arial"/>
                <a:sym typeface="Arial"/>
              </a:rPr>
              <a:t>Step 1 — Per-band Butterworth Bandpass Filter:</a:t>
            </a:r>
            <a:endParaRPr b="1" sz="2400" u="none">
              <a:latin typeface="Arial"/>
              <a:ea typeface="Arial"/>
              <a:cs typeface="Arial"/>
              <a:sym typeface="Arial"/>
            </a:endParaRPr>
          </a:p>
          <a:p>
            <a:pPr indent="0" lvl="0" marL="182880" marR="18288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en-US" sz="2400" u="none">
                <a:latin typeface="Arial"/>
                <a:ea typeface="Arial"/>
                <a:cs typeface="Arial"/>
                <a:sym typeface="Arial"/>
              </a:rPr>
              <a:t>sos = butter(order=4, [fmin/nyquist, fmax/nyquist], </a:t>
            </a:r>
            <a:endParaRPr sz="2400" u="none">
              <a:latin typeface="Arial"/>
              <a:ea typeface="Arial"/>
              <a:cs typeface="Arial"/>
              <a:sym typeface="Arial"/>
            </a:endParaRPr>
          </a:p>
          <a:p>
            <a:pPr indent="0" lvl="0" marL="182880" marR="18288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en-US" sz="2400" u="none">
                <a:latin typeface="Arial"/>
                <a:ea typeface="Arial"/>
                <a:cs typeface="Arial"/>
                <a:sym typeface="Arial"/>
              </a:rPr>
              <a:t>btype='bandpass', output='sos') filtered = sosfiltfilt(sos, signal) </a:t>
            </a:r>
            <a:endParaRPr sz="2400" u="none">
              <a:latin typeface="Arial"/>
              <a:ea typeface="Arial"/>
              <a:cs typeface="Arial"/>
              <a:sym typeface="Arial"/>
            </a:endParaRPr>
          </a:p>
          <a:p>
            <a:pPr indent="0" lvl="0" marL="182880" marR="18288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en-US" sz="2400" u="none">
                <a:latin typeface="Arial"/>
                <a:ea typeface="Arial"/>
                <a:cs typeface="Arial"/>
                <a:sym typeface="Arial"/>
              </a:rPr>
              <a:t>sosfiltfilt applies filter forwards + backwards → zero phase distortion (no time shift in output)</a:t>
            </a:r>
            <a:endParaRPr sz="2400" u="none">
              <a:latin typeface="Arial"/>
              <a:ea typeface="Arial"/>
              <a:cs typeface="Arial"/>
              <a:sym typeface="Arial"/>
            </a:endParaRPr>
          </a:p>
          <a:p>
            <a:pPr indent="0" lvl="0" marL="182880" marR="18288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t/>
            </a:r>
            <a:endParaRPr sz="2500" u="none">
              <a:latin typeface="Arial"/>
              <a:ea typeface="Arial"/>
              <a:cs typeface="Arial"/>
              <a:sym typeface="Arial"/>
            </a:endParaRPr>
          </a:p>
          <a:p>
            <a:pPr indent="0" lvl="0" marL="182880" marR="18288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lang="en-US" sz="2400" u="none">
                <a:latin typeface="Arial"/>
                <a:ea typeface="Arial"/>
                <a:cs typeface="Arial"/>
                <a:sym typeface="Arial"/>
              </a:rPr>
              <a:t>Step 2 — STFT on filtered signal:</a:t>
            </a:r>
            <a:endParaRPr b="1" sz="2400" u="none">
              <a:latin typeface="Arial"/>
              <a:ea typeface="Arial"/>
              <a:cs typeface="Arial"/>
              <a:sym typeface="Arial"/>
            </a:endParaRPr>
          </a:p>
          <a:p>
            <a:pPr indent="0" lvl="0" marL="182880" marR="18288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en-US" sz="2400" u="none">
                <a:latin typeface="Arial"/>
                <a:ea typeface="Arial"/>
                <a:cs typeface="Arial"/>
                <a:sym typeface="Arial"/>
              </a:rPr>
              <a:t>_, _, Zxx = stft(filtered, fs=100,window='hann', nperseg=400,noverlap=300)</a:t>
            </a:r>
            <a:endParaRPr sz="2400" u="none">
              <a:latin typeface="Arial"/>
              <a:ea typeface="Arial"/>
              <a:cs typeface="Arial"/>
              <a:sym typeface="Arial"/>
            </a:endParaRPr>
          </a:p>
          <a:p>
            <a:pPr indent="0" lvl="0" marL="182880" marR="18288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en-US" sz="2400" u="none">
                <a:latin typeface="Arial"/>
                <a:ea typeface="Arial"/>
                <a:cs typeface="Arial"/>
                <a:sym typeface="Arial"/>
              </a:rPr>
              <a:t>power = |Zxx|²</a:t>
            </a:r>
            <a:endParaRPr sz="2400" u="none">
              <a:latin typeface="Arial"/>
              <a:ea typeface="Arial"/>
              <a:cs typeface="Arial"/>
              <a:sym typeface="Arial"/>
            </a:endParaRPr>
          </a:p>
          <a:p>
            <a:pPr indent="0" lvl="0" marL="182880" marR="18288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400" u="none">
                <a:latin typeface="Arial"/>
                <a:ea typeface="Arial"/>
                <a:cs typeface="Arial"/>
                <a:sym typeface="Arial"/>
              </a:rPr>
              <a:t>power_per_sec = power.mean(axis=0)</a:t>
            </a:r>
            <a:endParaRPr b="1" u="non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6"/>
          <p:cNvSpPr txBox="1"/>
          <p:nvPr>
            <p:ph type="title"/>
          </p:nvPr>
        </p:nvSpPr>
        <p:spPr>
          <a:xfrm>
            <a:off x="4881126" y="113751"/>
            <a:ext cx="10872000" cy="16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69050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5400"/>
              <a:t>Why Bandpass-STFT over CWT</a:t>
            </a:r>
            <a:endParaRPr sz="5400"/>
          </a:p>
        </p:txBody>
      </p:sp>
      <p:sp>
        <p:nvSpPr>
          <p:cNvPr id="151" name="Google Shape;151;p16"/>
          <p:cNvSpPr txBox="1"/>
          <p:nvPr/>
        </p:nvSpPr>
        <p:spPr>
          <a:xfrm>
            <a:off x="2583625" y="2324461"/>
            <a:ext cx="14620800" cy="78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1275">
            <a:spAutoFit/>
          </a:bodyPr>
          <a:lstStyle/>
          <a:p>
            <a:pPr indent="-419100" lvl="0" marL="9144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❖"/>
            </a:pPr>
            <a:r>
              <a:rPr b="1" i="0" lang="en-US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CWT (Continuous Wavelet Transform):</a:t>
            </a:r>
            <a:endParaRPr b="1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1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+ Adaptive resolution — wide wavelet for delta,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1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narrow for beta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1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+ Exact frequency targeting — no bins, no leakage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1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− 90 seconds per epoch on CPU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1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− 64 days to build full 108-patient dataset</a:t>
            </a:r>
            <a:endParaRPr b="1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910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❖"/>
            </a:pPr>
            <a:r>
              <a:rPr b="1" i="0" lang="en-US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Bandpass-STFT:</a:t>
            </a:r>
            <a:endParaRPr b="1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93700" lvl="1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➢"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+ ~2 seconds per epoch (45× faster than CWT)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93700" lvl="1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➢"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+ Full dataset buildable in ~7 hours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93700" lvl="1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➢"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+ Zero cross-band leakage (bandpass filter applied first)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93700" lvl="1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➢"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− Fixed frequency resolution (0.25 Hz bins with 4s window)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93700" lvl="1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➢"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− Slight delta underestimation at 0.5 Hz boundary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93700" lvl="1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➢"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(mitigated by 4-second window giving 0.25 Hz bins)</a:t>
            </a:r>
            <a:endParaRPr b="1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910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❖"/>
            </a:pPr>
            <a:r>
              <a:rPr b="1" i="0" lang="en-US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Practical resolution comparison (4s window, 100Hz):</a:t>
            </a:r>
            <a:endParaRPr b="1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7350" lvl="1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➢"/>
            </a:pPr>
            <a:r>
              <a:rPr b="1" i="0" lang="en-US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delta bins: 0.25, 0.50, 0.75 ... 4.00 Hz  (15 bins) 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7350" lvl="1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➢"/>
            </a:pPr>
            <a:r>
              <a:rPr b="0" i="0" lang="en-US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alpha bins: 8.00, 8.25 ... 13.00 Hz        (21 bins) 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7350" lvl="1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➢"/>
            </a:pPr>
            <a:r>
              <a:rPr b="0" i="0" lang="en-US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beta  bins: 13.25, 13.50 ... 30.00 Hz      (67 bins)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7"/>
          <p:cNvSpPr txBox="1"/>
          <p:nvPr>
            <p:ph type="title"/>
          </p:nvPr>
        </p:nvSpPr>
        <p:spPr>
          <a:xfrm>
            <a:off x="4011525" y="294202"/>
            <a:ext cx="11155200" cy="16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6905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5400"/>
              <a:t>Spatial Mapping: RBF Interpolation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1830300" y="2637700"/>
            <a:ext cx="15534600" cy="657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81275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Algorithm: Thin-Plate-Spline RBF (smoothing=1e-3) </a:t>
            </a:r>
            <a:endParaRPr b="1" sz="3200">
              <a:solidFill>
                <a:schemeClr val="dk1"/>
              </a:solidFill>
            </a:endParaRPr>
          </a:p>
          <a:p>
            <a:pPr indent="-3937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❖"/>
            </a:pPr>
            <a:r>
              <a:rPr b="1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Mathematical formulation:</a:t>
            </a:r>
            <a:endParaRPr b="1" sz="2600">
              <a:solidFill>
                <a:schemeClr val="dk1"/>
              </a:solidFill>
            </a:endParaRPr>
          </a:p>
          <a:p>
            <a:pPr indent="-419100" lvl="1" marL="9144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➢"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f(x,y) = Σ wᵢ × φ(||[x,y] − [xᵢ,yᵢ]||)</a:t>
            </a:r>
            <a:endParaRPr sz="2800">
              <a:solidFill>
                <a:schemeClr val="dk1"/>
              </a:solidFill>
            </a:endParaRPr>
          </a:p>
          <a:p>
            <a:pPr indent="-419100" lvl="1" marL="9144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➢"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Where φ(r) = r² log(r) ← thin-plate-spline kernel Input: 9 bipolar EEG channels with known scalp positions (bipolar channels → midpoint of two electrode positions) Channel → scalp position mapping: F1-F3 → midpoint of F1 (−0.18, 0.52) and F3 (−0.35, 0.50) F3-C3 → midpoint of F3 (−0.35, 0.50) and C3 (−0.50, 0.00) ... etc. (all 9 channels mapped to normalised disc [−1, 1])</a:t>
            </a:r>
            <a:endParaRPr sz="2600">
              <a:solidFill>
                <a:schemeClr val="dk1"/>
              </a:solidFill>
            </a:endParaRPr>
          </a:p>
          <a:p>
            <a:pPr indent="-3937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❖"/>
            </a:pPr>
            <a:r>
              <a:rPr b="1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Electrode-range clipping (critical anti-artifact step): </a:t>
            </a:r>
            <a:endParaRPr b="1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2750" lvl="1" marL="9144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Char char="➢"/>
            </a:pPr>
            <a:r>
              <a:rPr b="0" i="0" lang="en-US" sz="2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Values = clip(values, psd_vals.min(), psd_vals.max()) </a:t>
            </a:r>
            <a:endParaRPr b="0" i="0" sz="2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just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Prevents RBF overshoot from creating artificial activations between electrodes — no interpolated pixel can exceed the highest value actually measured by an electrode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8"/>
          <p:cNvSpPr txBox="1"/>
          <p:nvPr>
            <p:ph type="title"/>
          </p:nvPr>
        </p:nvSpPr>
        <p:spPr>
          <a:xfrm>
            <a:off x="3854122" y="366628"/>
            <a:ext cx="12961500" cy="16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6905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5400"/>
              <a:t>4D Tensor Reconstruction: The Voxel Cube</a:t>
            </a:r>
            <a:endParaRPr sz="5400"/>
          </a:p>
        </p:txBody>
      </p:sp>
      <p:sp>
        <p:nvSpPr>
          <p:cNvPr id="163" name="Google Shape;163;p18"/>
          <p:cNvSpPr/>
          <p:nvPr/>
        </p:nvSpPr>
        <p:spPr>
          <a:xfrm>
            <a:off x="1512788" y="2745444"/>
            <a:ext cx="15912300" cy="7227900"/>
          </a:xfrm>
          <a:prstGeom prst="rect">
            <a:avLst/>
          </a:prstGeom>
          <a:solidFill>
            <a:srgbClr val="FFF9C4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4" name="Google Shape;164;p18"/>
          <p:cNvSpPr txBox="1"/>
          <p:nvPr>
            <p:ph idx="2" type="body"/>
          </p:nvPr>
        </p:nvSpPr>
        <p:spPr>
          <a:xfrm>
            <a:off x="12407038" y="2935444"/>
            <a:ext cx="4826700" cy="6850500"/>
          </a:xfrm>
          <a:prstGeom prst="rect">
            <a:avLst/>
          </a:prstGeom>
          <a:solidFill>
            <a:srgbClr val="F3E5F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274300" spcFirstLastPara="1" rIns="91425" wrap="square" tIns="182875">
            <a:noAutofit/>
          </a:bodyPr>
          <a:lstStyle/>
          <a:p>
            <a:pPr indent="0" lvl="0" marL="0" marR="18288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500" u="none">
                <a:latin typeface="Arial"/>
                <a:ea typeface="Arial"/>
                <a:cs typeface="Arial"/>
                <a:sym typeface="Arial"/>
              </a:rPr>
              <a:t>Colour interpretation</a:t>
            </a:r>
            <a:endParaRPr b="1" sz="2500" u="none">
              <a:latin typeface="Arial"/>
              <a:ea typeface="Arial"/>
              <a:cs typeface="Arial"/>
              <a:sym typeface="Arial"/>
            </a:endParaRPr>
          </a:p>
          <a:p>
            <a:pPr indent="0" lvl="0" marL="182880" marR="18288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u="none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18288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400"/>
              <a:buFont typeface="Arial"/>
              <a:buChar char="❖"/>
            </a:pPr>
            <a:r>
              <a:rPr lang="en-US" sz="2400" u="none">
                <a:latin typeface="Arial"/>
                <a:ea typeface="Arial"/>
                <a:cs typeface="Arial"/>
                <a:sym typeface="Arial"/>
              </a:rPr>
              <a:t>Pure red    → beta dominant  = micro-arousal, wake intrusion</a:t>
            </a:r>
            <a:endParaRPr sz="2400" u="none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18288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❖"/>
            </a:pPr>
            <a:r>
              <a:rPr lang="en-US" sz="2400" u="none">
                <a:latin typeface="Arial"/>
                <a:ea typeface="Arial"/>
                <a:cs typeface="Arial"/>
                <a:sym typeface="Arial"/>
              </a:rPr>
              <a:t>Pure blue   → delta dominant = deep slow-wave sleep (N3)</a:t>
            </a:r>
            <a:endParaRPr sz="2400" u="none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18288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❖"/>
            </a:pPr>
            <a:r>
              <a:rPr lang="en-US" sz="2400" u="none">
                <a:latin typeface="Arial"/>
                <a:ea typeface="Arial"/>
                <a:cs typeface="Arial"/>
                <a:sym typeface="Arial"/>
              </a:rPr>
              <a:t>Pure green  → alpha dominant = sleep spindle, drowsiness</a:t>
            </a:r>
            <a:endParaRPr sz="2400" u="none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18288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❖"/>
            </a:pPr>
            <a:r>
              <a:rPr lang="en-US" sz="2400" u="none">
                <a:latin typeface="Arial"/>
                <a:ea typeface="Arial"/>
                <a:cs typeface="Arial"/>
                <a:sym typeface="Arial"/>
              </a:rPr>
              <a:t>Magenta     → beta + delta   = disturbed N3 sleep</a:t>
            </a:r>
            <a:endParaRPr sz="2400" u="none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18288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❖"/>
            </a:pPr>
            <a:r>
              <a:rPr lang="en-US" sz="2400" u="none">
                <a:latin typeface="Arial"/>
                <a:ea typeface="Arial"/>
                <a:cs typeface="Arial"/>
                <a:sym typeface="Arial"/>
              </a:rPr>
              <a:t>Yellow      → beta + alpha   = light sleep with arousals</a:t>
            </a:r>
            <a:endParaRPr b="1" sz="2300" u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18"/>
          <p:cNvSpPr txBox="1"/>
          <p:nvPr>
            <p:ph idx="2" type="body"/>
          </p:nvPr>
        </p:nvSpPr>
        <p:spPr>
          <a:xfrm>
            <a:off x="7108919" y="2935494"/>
            <a:ext cx="5107200" cy="6850500"/>
          </a:xfrm>
          <a:prstGeom prst="rect">
            <a:avLst/>
          </a:prstGeom>
          <a:solidFill>
            <a:srgbClr val="E8F5E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274300" spcFirstLastPara="1" rIns="91425" wrap="square" tIns="182875">
            <a:noAutofit/>
          </a:bodyPr>
          <a:lstStyle/>
          <a:p>
            <a:pPr indent="0" lvl="0" marL="0" marR="18288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500" u="none">
                <a:latin typeface="Arial"/>
                <a:ea typeface="Arial"/>
                <a:cs typeface="Arial"/>
                <a:sym typeface="Arial"/>
              </a:rPr>
              <a:t>Band-to-channel mapping (clinically motivated)</a:t>
            </a:r>
            <a:endParaRPr b="1" sz="2500" u="none">
              <a:latin typeface="Arial"/>
              <a:ea typeface="Arial"/>
              <a:cs typeface="Arial"/>
              <a:sym typeface="Arial"/>
            </a:endParaRPr>
          </a:p>
          <a:p>
            <a:pPr indent="0" lvl="0" marL="182880" marR="18288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600" u="none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18288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400"/>
              <a:buFont typeface="Arial"/>
              <a:buChar char="❖"/>
            </a:pPr>
            <a:r>
              <a:rPr lang="en-US" sz="2400" u="none">
                <a:latin typeface="Arial"/>
                <a:ea typeface="Arial"/>
                <a:cs typeface="Arial"/>
                <a:sym typeface="Arial"/>
              </a:rPr>
              <a:t>R (channel 0) = beta  power 13–30 Hz  → arousal marker</a:t>
            </a:r>
            <a:endParaRPr sz="2400" u="none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18288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❖"/>
            </a:pPr>
            <a:r>
              <a:rPr lang="en-US" sz="2400" u="none">
                <a:latin typeface="Arial"/>
                <a:ea typeface="Arial"/>
                <a:cs typeface="Arial"/>
                <a:sym typeface="Arial"/>
              </a:rPr>
              <a:t>G (channel 1) = alpha power  8–13 Hz  → spindle marker</a:t>
            </a:r>
            <a:endParaRPr sz="2400" u="none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18288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❖"/>
            </a:pPr>
            <a:r>
              <a:rPr lang="en-US" sz="2400" u="none">
                <a:latin typeface="Arial"/>
                <a:ea typeface="Arial"/>
                <a:cs typeface="Arial"/>
                <a:sym typeface="Arial"/>
              </a:rPr>
              <a:t>B (channel 2) = delta power 0.5–4 Hz  → deep sleep marker</a:t>
            </a:r>
            <a:endParaRPr b="1" sz="1700" u="non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8"/>
          <p:cNvSpPr txBox="1"/>
          <p:nvPr>
            <p:ph idx="1" type="body"/>
          </p:nvPr>
        </p:nvSpPr>
        <p:spPr>
          <a:xfrm>
            <a:off x="1699540" y="2935494"/>
            <a:ext cx="5185200" cy="6850500"/>
          </a:xfrm>
          <a:prstGeom prst="rect">
            <a:avLst/>
          </a:prstGeom>
          <a:solidFill>
            <a:srgbClr val="E3F2FD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274300" spcFirstLastPara="1" rIns="91425" wrap="square" tIns="182875">
            <a:noAutofit/>
          </a:bodyPr>
          <a:lstStyle/>
          <a:p>
            <a:pPr indent="0" lvl="0" marL="0" marR="18288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500" u="none">
                <a:latin typeface="Arial"/>
                <a:ea typeface="Arial"/>
                <a:cs typeface="Arial"/>
                <a:sym typeface="Arial"/>
              </a:rPr>
              <a:t>Final tensor dimensions: (30, 32, 32, 3)  [PyTorch: (T, H, W, C)]</a:t>
            </a:r>
            <a:endParaRPr b="1" sz="2500" u="none">
              <a:latin typeface="Arial"/>
              <a:ea typeface="Arial"/>
              <a:cs typeface="Arial"/>
              <a:sym typeface="Arial"/>
            </a:endParaRPr>
          </a:p>
          <a:p>
            <a:pPr indent="0" lvl="0" marL="182880" marR="18288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500" u="none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18288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2400"/>
              <a:buFont typeface="Arial"/>
              <a:buChar char="❖"/>
            </a:pPr>
            <a:r>
              <a:rPr lang="en-US" sz="2400" u="none">
                <a:latin typeface="Arial"/>
                <a:ea typeface="Arial"/>
                <a:cs typeface="Arial"/>
                <a:sym typeface="Arial"/>
              </a:rPr>
              <a:t>30 = time slices (30 × 1-second slices per 30s epoch)</a:t>
            </a:r>
            <a:endParaRPr sz="2400" u="none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18288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❖"/>
            </a:pPr>
            <a:r>
              <a:rPr lang="en-US" sz="2400" u="none">
                <a:latin typeface="Arial"/>
                <a:ea typeface="Arial"/>
                <a:cs typeface="Arial"/>
                <a:sym typeface="Arial"/>
              </a:rPr>
              <a:t>32 × 32 = spatial scalp grid (X, Y coordinates)</a:t>
            </a:r>
            <a:endParaRPr sz="2400" u="none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18288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❖"/>
            </a:pPr>
            <a:r>
              <a:rPr lang="en-US" sz="2400" u="none">
                <a:latin typeface="Arial"/>
                <a:ea typeface="Arial"/>
                <a:cs typeface="Arial"/>
                <a:sym typeface="Arial"/>
              </a:rPr>
              <a:t>3 = RGB band channels</a:t>
            </a:r>
            <a:endParaRPr sz="26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/>
          <p:cNvSpPr txBox="1"/>
          <p:nvPr>
            <p:ph type="title"/>
          </p:nvPr>
        </p:nvSpPr>
        <p:spPr>
          <a:xfrm>
            <a:off x="4405950" y="956175"/>
            <a:ext cx="11800800" cy="9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Model Training and Optimization</a:t>
            </a:r>
            <a:endParaRPr/>
          </a:p>
        </p:txBody>
      </p:sp>
      <p:sp>
        <p:nvSpPr>
          <p:cNvPr id="172" name="Google Shape;172;p20"/>
          <p:cNvSpPr txBox="1"/>
          <p:nvPr/>
        </p:nvSpPr>
        <p:spPr>
          <a:xfrm>
            <a:off x="1979725" y="2670725"/>
            <a:ext cx="15557700" cy="724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700">
            <a:noAutofit/>
          </a:bodyPr>
          <a:lstStyle/>
          <a:p>
            <a:pPr indent="-3746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300"/>
              <a:buFont typeface="Arial"/>
              <a:buChar char="❖"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Stratified Dataset Split (70:15:15)</a:t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9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100"/>
              <a:buFont typeface="Calibri"/>
              <a:buChar char="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Class Consistency: We employ Stratification to ensure that the ratio of sleep disorders (Apnea, Insomnia, Narcolepsy, etc.) and sleep stages (N1, N2, REM) is identical across all sets.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9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100"/>
              <a:buFont typeface="Calibri"/>
              <a:buChar char="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Generalization: By holding out 15% of the data for final testing, we ensure the model is evaluated on patients it has never seen before, proving its diagnostic reliability.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465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F3F3F"/>
              </a:buClr>
              <a:buSzPts val="2300"/>
              <a:buFont typeface="Arial"/>
              <a:buChar char="❖"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3D-CNN Training Loop: Volumetric Learning</a:t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9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100"/>
              <a:buFont typeface="Calibri"/>
              <a:buChar char="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3D Spatial Kernels: Unlike 2D-CNNs, our model uses 3D Convolutional Filters (k*k*d) that slide across the X,Y,Z planes simultaneously.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9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100"/>
              <a:buFont typeface="Calibri"/>
              <a:buChar char="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Feature Extraction: The network learns the "shape" of sleep events—identifying how a high-frequency Beta burst (Red) expands from the Frontal to the Central lobes over time.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465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F3F3F"/>
              </a:buClr>
              <a:buSzPts val="2300"/>
              <a:buFont typeface="Arial"/>
              <a:buChar char="❖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Backpropagation &amp; Optimization</a:t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9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100"/>
              <a:buFont typeface="Calibri"/>
              <a:buChar char="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Adam Optimizer: We utilize the Adam algorithm for adaptive learning rate adjustment, ensuring the model converges quickly and efficiently on complex 4D data.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Early stopping with patience=15 epochs. Weighted cross entropy loss corrects class imbalance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9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100"/>
              <a:buFont typeface="Calibri"/>
              <a:buChar char="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Final Output: The result is a highly optimized model capable of classifying the Cyclic Alternating Pattern (CAP) micro-structures into their respective pathological categories with high precision.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da1d014ec3_0_10"/>
          <p:cNvSpPr txBox="1"/>
          <p:nvPr>
            <p:ph type="title"/>
          </p:nvPr>
        </p:nvSpPr>
        <p:spPr>
          <a:xfrm>
            <a:off x="4259116" y="235888"/>
            <a:ext cx="12002100" cy="17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6905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Arial"/>
              <a:buNone/>
            </a:pPr>
            <a:r>
              <a:rPr lang="en-US"/>
              <a:t>Stratified Dataset Split (70:15:15)</a:t>
            </a:r>
            <a:endParaRPr sz="5400"/>
          </a:p>
        </p:txBody>
      </p:sp>
      <p:sp>
        <p:nvSpPr>
          <p:cNvPr id="178" name="Google Shape;178;g3da1d014ec3_0_10"/>
          <p:cNvSpPr/>
          <p:nvPr/>
        </p:nvSpPr>
        <p:spPr>
          <a:xfrm>
            <a:off x="1472890" y="2802847"/>
            <a:ext cx="16267200" cy="7190400"/>
          </a:xfrm>
          <a:prstGeom prst="rect">
            <a:avLst/>
          </a:prstGeom>
          <a:solidFill>
            <a:srgbClr val="FFF9C4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9" name="Google Shape;179;g3da1d014ec3_0_10"/>
          <p:cNvSpPr txBox="1"/>
          <p:nvPr>
            <p:ph idx="1" type="body"/>
          </p:nvPr>
        </p:nvSpPr>
        <p:spPr>
          <a:xfrm>
            <a:off x="1606157" y="2991524"/>
            <a:ext cx="5185200" cy="6850500"/>
          </a:xfrm>
          <a:prstGeom prst="rect">
            <a:avLst/>
          </a:prstGeom>
          <a:solidFill>
            <a:srgbClr val="E3F2F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182875">
            <a:noAutofit/>
          </a:bodyPr>
          <a:lstStyle/>
          <a:p>
            <a:pPr indent="0" lvl="0" marL="18288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/>
              <a:t>Algorithm</a:t>
            </a:r>
            <a:endParaRPr b="1" sz="3000"/>
          </a:p>
          <a:p>
            <a:pPr indent="0" lvl="0" marL="18288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/>
          </a:p>
          <a:p>
            <a:pPr indent="0" lvl="0" marL="18288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Arial"/>
              <a:buNone/>
            </a:pPr>
            <a:r>
              <a:rPr lang="en-US" sz="2600"/>
              <a:t>sklearn train_test_split with stratify parameter </a:t>
            </a:r>
            <a:endParaRPr sz="2600"/>
          </a:p>
          <a:p>
            <a:pPr indent="0" lvl="0" marL="18288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Arial"/>
              <a:buNone/>
            </a:pPr>
            <a:r>
              <a:rPr b="1" lang="en-US" sz="2600"/>
              <a:t>Purpose: </a:t>
            </a:r>
            <a:r>
              <a:rPr lang="en-US" sz="2600"/>
              <a:t>Maintain disorder class distribution across all splits</a:t>
            </a:r>
            <a:endParaRPr sz="2600"/>
          </a:p>
          <a:p>
            <a:pPr indent="0" lvl="0" marL="18288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Arial"/>
              <a:buNone/>
            </a:pPr>
            <a:r>
              <a:t/>
            </a:r>
            <a:endParaRPr/>
          </a:p>
          <a:p>
            <a:pPr indent="0" lvl="0" marL="18288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/>
              <a:t>For each class c in </a:t>
            </a:r>
            <a:r>
              <a:rPr b="1" lang="en-US" sz="2600"/>
              <a:t>{normal, nfle, insomnia, narcolepsy, bruxism}:</a:t>
            </a:r>
            <a:endParaRPr b="1" sz="2600"/>
          </a:p>
          <a:p>
            <a:pPr indent="0" lvl="0" marL="18288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Arial"/>
              <a:buNone/>
            </a:pPr>
            <a:r>
              <a:rPr b="1" lang="en-US" sz="2600"/>
              <a:t> </a:t>
            </a:r>
            <a:r>
              <a:rPr b="1" lang="en-US"/>
              <a:t>   </a:t>
            </a:r>
            <a:r>
              <a:rPr b="1" lang="en-US" sz="2400"/>
              <a:t>Train samples: </a:t>
            </a:r>
            <a:r>
              <a:rPr lang="en-US" sz="2400"/>
              <a:t>n_c × 0.70 </a:t>
            </a:r>
            <a:endParaRPr sz="2400"/>
          </a:p>
          <a:p>
            <a:pPr indent="0" lvl="0" marL="18288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Arial"/>
              <a:buNone/>
            </a:pPr>
            <a:r>
              <a:rPr b="1" lang="en-US" sz="2400"/>
              <a:t>   Validation samples: </a:t>
            </a:r>
            <a:r>
              <a:rPr lang="en-US" sz="2400"/>
              <a:t>n_c × 0.15 </a:t>
            </a:r>
            <a:endParaRPr sz="2400"/>
          </a:p>
          <a:p>
            <a:pPr indent="0" lvl="0" marL="18288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Arial"/>
              <a:buNone/>
            </a:pPr>
            <a:r>
              <a:rPr b="1" lang="en-US" sz="2400"/>
              <a:t>   Test samples: </a:t>
            </a:r>
            <a:r>
              <a:rPr lang="en-US" sz="2400"/>
              <a:t>n_c × 0.15 </a:t>
            </a:r>
            <a:endParaRPr b="1" sz="1900"/>
          </a:p>
        </p:txBody>
      </p:sp>
      <p:sp>
        <p:nvSpPr>
          <p:cNvPr id="180" name="Google Shape;180;g3da1d014ec3_0_10"/>
          <p:cNvSpPr txBox="1"/>
          <p:nvPr>
            <p:ph idx="2" type="body"/>
          </p:nvPr>
        </p:nvSpPr>
        <p:spPr>
          <a:xfrm>
            <a:off x="6996860" y="2991524"/>
            <a:ext cx="5107200" cy="6850500"/>
          </a:xfrm>
          <a:prstGeom prst="rect">
            <a:avLst/>
          </a:prstGeom>
          <a:solidFill>
            <a:srgbClr val="E8F5E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182875">
            <a:noAutofit/>
          </a:bodyPr>
          <a:lstStyle/>
          <a:p>
            <a:pPr indent="0" lvl="0" marL="182880" marR="18288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 u="none">
                <a:latin typeface="Arial"/>
                <a:ea typeface="Arial"/>
                <a:cs typeface="Arial"/>
                <a:sym typeface="Arial"/>
              </a:rPr>
              <a:t>Implementation</a:t>
            </a:r>
            <a:endParaRPr b="1" sz="3000" u="none">
              <a:latin typeface="Arial"/>
              <a:ea typeface="Arial"/>
              <a:cs typeface="Arial"/>
              <a:sym typeface="Arial"/>
            </a:endParaRPr>
          </a:p>
          <a:p>
            <a:pPr indent="0" lvl="0" marL="182880" marR="18288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100" u="none">
              <a:latin typeface="Arial"/>
              <a:ea typeface="Arial"/>
              <a:cs typeface="Arial"/>
              <a:sym typeface="Arial"/>
            </a:endParaRPr>
          </a:p>
          <a:p>
            <a:pPr indent="0" lvl="0" marL="182880" marR="18288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 u="none">
                <a:latin typeface="Arial"/>
                <a:ea typeface="Arial"/>
                <a:cs typeface="Arial"/>
                <a:sym typeface="Arial"/>
              </a:rPr>
              <a:t>Step 1: </a:t>
            </a:r>
            <a:r>
              <a:rPr lang="en-US" sz="2600" u="none">
                <a:latin typeface="Arial"/>
                <a:ea typeface="Arial"/>
                <a:cs typeface="Arial"/>
                <a:sym typeface="Arial"/>
              </a:rPr>
              <a:t>Split full → trainval (85%) + test (15%), stratified </a:t>
            </a:r>
            <a:endParaRPr sz="2600" u="none">
              <a:latin typeface="Arial"/>
              <a:ea typeface="Arial"/>
              <a:cs typeface="Arial"/>
              <a:sym typeface="Arial"/>
            </a:endParaRPr>
          </a:p>
          <a:p>
            <a:pPr indent="0" lvl="0" marL="182880" marR="18288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 u="none">
              <a:latin typeface="Arial"/>
              <a:ea typeface="Arial"/>
              <a:cs typeface="Arial"/>
              <a:sym typeface="Arial"/>
            </a:endParaRPr>
          </a:p>
          <a:p>
            <a:pPr indent="0" lvl="0" marL="182880" marR="18288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 u="none">
                <a:latin typeface="Arial"/>
                <a:ea typeface="Arial"/>
                <a:cs typeface="Arial"/>
                <a:sym typeface="Arial"/>
              </a:rPr>
              <a:t>Step 2: </a:t>
            </a:r>
            <a:r>
              <a:rPr lang="en-US" sz="2600" u="none">
                <a:latin typeface="Arial"/>
                <a:ea typeface="Arial"/>
                <a:cs typeface="Arial"/>
                <a:sym typeface="Arial"/>
              </a:rPr>
              <a:t>Split trainval → train (82%) + val (18%), stratified </a:t>
            </a:r>
            <a:endParaRPr sz="2600" u="none">
              <a:latin typeface="Arial"/>
              <a:ea typeface="Arial"/>
              <a:cs typeface="Arial"/>
              <a:sym typeface="Arial"/>
            </a:endParaRPr>
          </a:p>
          <a:p>
            <a:pPr indent="0" lvl="0" marL="182880" marR="18288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 u="none">
              <a:latin typeface="Arial"/>
              <a:ea typeface="Arial"/>
              <a:cs typeface="Arial"/>
              <a:sym typeface="Arial"/>
            </a:endParaRPr>
          </a:p>
          <a:p>
            <a:pPr indent="0" lvl="0" marL="182880" marR="18288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 u="none">
                <a:latin typeface="Arial"/>
                <a:ea typeface="Arial"/>
                <a:cs typeface="Arial"/>
                <a:sym typeface="Arial"/>
              </a:rPr>
              <a:t>Result: </a:t>
            </a:r>
            <a:r>
              <a:rPr lang="en-US" sz="2600" u="none">
                <a:latin typeface="Arial"/>
                <a:ea typeface="Arial"/>
                <a:cs typeface="Arial"/>
                <a:sym typeface="Arial"/>
              </a:rPr>
              <a:t>train=70%, val=15%, test=15% of total </a:t>
            </a:r>
            <a:endParaRPr b="1" sz="2600" u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g3da1d014ec3_0_10"/>
          <p:cNvSpPr txBox="1"/>
          <p:nvPr>
            <p:ph idx="2" type="body"/>
          </p:nvPr>
        </p:nvSpPr>
        <p:spPr>
          <a:xfrm>
            <a:off x="12332332" y="2991474"/>
            <a:ext cx="5260800" cy="6850500"/>
          </a:xfrm>
          <a:prstGeom prst="rect">
            <a:avLst/>
          </a:prstGeom>
          <a:solidFill>
            <a:srgbClr val="F3E5F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182875">
            <a:noAutofit/>
          </a:bodyPr>
          <a:lstStyle/>
          <a:p>
            <a:pPr indent="0" lvl="0" marL="182880" marR="18288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 u="none">
                <a:latin typeface="Arial"/>
                <a:ea typeface="Arial"/>
                <a:cs typeface="Arial"/>
                <a:sym typeface="Arial"/>
              </a:rPr>
              <a:t>Weighted Random Sampler</a:t>
            </a:r>
            <a:endParaRPr b="1" sz="3000" u="none">
              <a:latin typeface="Arial"/>
              <a:ea typeface="Arial"/>
              <a:cs typeface="Arial"/>
              <a:sym typeface="Arial"/>
            </a:endParaRPr>
          </a:p>
          <a:p>
            <a:pPr indent="0" lvl="0" marL="182880" marR="18288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00" u="none">
                <a:latin typeface="Arial"/>
                <a:ea typeface="Arial"/>
                <a:cs typeface="Arial"/>
                <a:sym typeface="Arial"/>
              </a:rPr>
              <a:t> </a:t>
            </a:r>
            <a:endParaRPr b="1" sz="3100" u="none">
              <a:latin typeface="Arial"/>
              <a:ea typeface="Arial"/>
              <a:cs typeface="Arial"/>
              <a:sym typeface="Arial"/>
            </a:endParaRPr>
          </a:p>
          <a:p>
            <a:pPr indent="0" lvl="0" marL="182880" marR="18288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u="none">
                <a:latin typeface="Arial"/>
                <a:ea typeface="Arial"/>
                <a:cs typeface="Arial"/>
                <a:sym typeface="Arial"/>
              </a:rPr>
              <a:t>used during training: </a:t>
            </a:r>
            <a:endParaRPr sz="2600" u="none">
              <a:latin typeface="Arial"/>
              <a:ea typeface="Arial"/>
              <a:cs typeface="Arial"/>
              <a:sym typeface="Arial"/>
            </a:endParaRPr>
          </a:p>
          <a:p>
            <a:pPr indent="0" lvl="0" marL="182880" marR="18288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u="none">
                <a:latin typeface="Arial"/>
                <a:ea typeface="Arial"/>
                <a:cs typeface="Arial"/>
                <a:sym typeface="Arial"/>
              </a:rPr>
              <a:t>sample_weight[i] = 1.0 / class_count[label[i]] </a:t>
            </a:r>
            <a:endParaRPr sz="2600" u="none">
              <a:latin typeface="Arial"/>
              <a:ea typeface="Arial"/>
              <a:cs typeface="Arial"/>
              <a:sym typeface="Arial"/>
            </a:endParaRPr>
          </a:p>
          <a:p>
            <a:pPr indent="0" lvl="0" marL="182880" marR="18288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 u="none">
              <a:latin typeface="Arial"/>
              <a:ea typeface="Arial"/>
              <a:cs typeface="Arial"/>
              <a:sym typeface="Arial"/>
            </a:endParaRPr>
          </a:p>
          <a:p>
            <a:pPr indent="0" lvl="0" marL="182880" marR="18288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u="none">
                <a:latin typeface="Arial"/>
                <a:ea typeface="Arial"/>
                <a:cs typeface="Arial"/>
                <a:sym typeface="Arial"/>
              </a:rPr>
              <a:t>Ensures each training batch sees balanced class representation regardless of underlying class frequencies</a:t>
            </a:r>
            <a:endParaRPr b="1" sz="2600" u="non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da1d014ec3_0_17"/>
          <p:cNvSpPr txBox="1"/>
          <p:nvPr>
            <p:ph type="title"/>
          </p:nvPr>
        </p:nvSpPr>
        <p:spPr>
          <a:xfrm>
            <a:off x="7482295" y="235900"/>
            <a:ext cx="3323400" cy="17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6905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Contd...</a:t>
            </a:r>
            <a:endParaRPr/>
          </a:p>
        </p:txBody>
      </p:sp>
      <p:sp>
        <p:nvSpPr>
          <p:cNvPr id="187" name="Google Shape;187;g3da1d014ec3_0_17"/>
          <p:cNvSpPr/>
          <p:nvPr/>
        </p:nvSpPr>
        <p:spPr>
          <a:xfrm>
            <a:off x="1680875" y="2541350"/>
            <a:ext cx="16304700" cy="7153200"/>
          </a:xfrm>
          <a:prstGeom prst="rect">
            <a:avLst/>
          </a:prstGeom>
          <a:solidFill>
            <a:srgbClr val="FFF9C4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8" name="Google Shape;188;g3da1d014ec3_0_17"/>
          <p:cNvSpPr txBox="1"/>
          <p:nvPr>
            <p:ph idx="2" type="body"/>
          </p:nvPr>
        </p:nvSpPr>
        <p:spPr>
          <a:xfrm>
            <a:off x="12556450" y="2692650"/>
            <a:ext cx="5260800" cy="6850500"/>
          </a:xfrm>
          <a:prstGeom prst="rect">
            <a:avLst/>
          </a:prstGeom>
          <a:solidFill>
            <a:srgbClr val="F3E5F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274300" spcFirstLastPara="1" rIns="91425" wrap="square" tIns="18287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3100" u="none">
                <a:latin typeface="Arial"/>
                <a:ea typeface="Arial"/>
                <a:cs typeface="Arial"/>
                <a:sym typeface="Arial"/>
              </a:rPr>
              <a:t>Key difference from 2D-CNN</a:t>
            </a:r>
            <a:endParaRPr b="1" sz="3100" u="none">
              <a:latin typeface="Arial"/>
              <a:ea typeface="Arial"/>
              <a:cs typeface="Arial"/>
              <a:sym typeface="Arial"/>
            </a:endParaRPr>
          </a:p>
          <a:p>
            <a:pPr indent="-393699" lvl="0" marL="502919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2600"/>
              <a:buFont typeface="Arial"/>
              <a:buChar char="❖"/>
            </a:pPr>
            <a:r>
              <a:rPr lang="en-US" sz="2600" u="none">
                <a:latin typeface="Arial"/>
                <a:ea typeface="Arial"/>
                <a:cs typeface="Arial"/>
                <a:sym typeface="Arial"/>
              </a:rPr>
              <a:t>2D: kernel slides over X,Y → spatial patterns only</a:t>
            </a:r>
            <a:endParaRPr sz="2600" u="none">
              <a:latin typeface="Arial"/>
              <a:ea typeface="Arial"/>
              <a:cs typeface="Arial"/>
              <a:sym typeface="Arial"/>
            </a:endParaRPr>
          </a:p>
          <a:p>
            <a:pPr indent="-393699" lvl="0" marL="50291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ial"/>
              <a:buChar char="❖"/>
            </a:pPr>
            <a:r>
              <a:rPr lang="en-US" sz="2600" u="none">
                <a:latin typeface="Arial"/>
                <a:ea typeface="Arial"/>
                <a:cs typeface="Arial"/>
                <a:sym typeface="Arial"/>
              </a:rPr>
              <a:t>3D: kernel slides over T,X,Y → spatiotemporal patterns</a:t>
            </a:r>
            <a:endParaRPr sz="2600" u="none">
              <a:latin typeface="Arial"/>
              <a:ea typeface="Arial"/>
              <a:cs typeface="Arial"/>
              <a:sym typeface="Arial"/>
            </a:endParaRPr>
          </a:p>
          <a:p>
            <a:pPr indent="-393699" lvl="0" marL="50291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ial"/>
              <a:buChar char="❖"/>
            </a:pPr>
            <a:r>
              <a:rPr lang="en-US" sz="2600" u="none">
                <a:latin typeface="Arial"/>
                <a:ea typeface="Arial"/>
                <a:cs typeface="Arial"/>
                <a:sym typeface="Arial"/>
              </a:rPr>
              <a:t>One filter can learn "beta burst at central location</a:t>
            </a:r>
            <a:endParaRPr sz="2600" u="none">
              <a:latin typeface="Arial"/>
              <a:ea typeface="Arial"/>
              <a:cs typeface="Arial"/>
              <a:sym typeface="Arial"/>
            </a:endParaRPr>
          </a:p>
          <a:p>
            <a:pPr indent="-393699" lvl="0" marL="50291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ial"/>
              <a:buChar char="❖"/>
            </a:pPr>
            <a:r>
              <a:rPr lang="en-US" sz="2600" u="none">
                <a:latin typeface="Arial"/>
                <a:ea typeface="Arial"/>
                <a:cs typeface="Arial"/>
                <a:sym typeface="Arial"/>
              </a:rPr>
              <a:t>Persisting 3 seconds" in a single operation</a:t>
            </a:r>
            <a:endParaRPr b="1" sz="2900" u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g3da1d014ec3_0_17"/>
          <p:cNvSpPr txBox="1"/>
          <p:nvPr>
            <p:ph idx="2" type="body"/>
          </p:nvPr>
        </p:nvSpPr>
        <p:spPr>
          <a:xfrm>
            <a:off x="7183625" y="2692700"/>
            <a:ext cx="5107200" cy="6850500"/>
          </a:xfrm>
          <a:prstGeom prst="rect">
            <a:avLst/>
          </a:prstGeom>
          <a:solidFill>
            <a:srgbClr val="E8F5E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274300" spcFirstLastPara="1" rIns="91425" wrap="square" tIns="18287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3100" u="none">
                <a:latin typeface="Arial"/>
                <a:ea typeface="Arial"/>
                <a:cs typeface="Arial"/>
                <a:sym typeface="Arial"/>
              </a:rPr>
              <a:t>3D Convolution</a:t>
            </a:r>
            <a:endParaRPr b="1" sz="3100" u="non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3100" u="none">
              <a:latin typeface="Arial"/>
              <a:ea typeface="Arial"/>
              <a:cs typeface="Arial"/>
              <a:sym typeface="Arial"/>
            </a:endParaRPr>
          </a:p>
          <a:p>
            <a:pPr indent="-3937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600"/>
              <a:buFont typeface="Arial"/>
              <a:buChar char="❖"/>
            </a:pPr>
            <a:r>
              <a:rPr lang="en-US" sz="2600" u="none">
                <a:latin typeface="Arial"/>
                <a:ea typeface="Arial"/>
                <a:cs typeface="Arial"/>
                <a:sym typeface="Arial"/>
              </a:rPr>
              <a:t>Output[t,x,y] = Σᵢ Σⱼ Σₖ Input[t+i, x+j, y+k] × Kernel[i,j,k]</a:t>
            </a:r>
            <a:endParaRPr sz="2600" u="none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600" u="none">
              <a:latin typeface="Arial"/>
              <a:ea typeface="Arial"/>
              <a:cs typeface="Arial"/>
              <a:sym typeface="Arial"/>
            </a:endParaRPr>
          </a:p>
          <a:p>
            <a:pPr indent="-3937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600"/>
              <a:buFont typeface="Arial"/>
              <a:buChar char="❖"/>
            </a:pPr>
            <a:r>
              <a:rPr lang="en-US" sz="2600" u="none">
                <a:latin typeface="Arial"/>
                <a:ea typeface="Arial"/>
                <a:cs typeface="Arial"/>
                <a:sym typeface="Arial"/>
              </a:rPr>
              <a:t>Kernel size: 3×3×3 (3 time × 3 height × 3 width)</a:t>
            </a:r>
            <a:endParaRPr sz="2600" u="none">
              <a:latin typeface="Arial"/>
              <a:ea typeface="Arial"/>
              <a:cs typeface="Arial"/>
              <a:sym typeface="Arial"/>
            </a:endParaRPr>
          </a:p>
          <a:p>
            <a:pPr indent="-3937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ial"/>
              <a:buChar char="❖"/>
            </a:pPr>
            <a:r>
              <a:t/>
            </a:r>
            <a:endParaRPr sz="2600" u="none">
              <a:latin typeface="Arial"/>
              <a:ea typeface="Arial"/>
              <a:cs typeface="Arial"/>
              <a:sym typeface="Arial"/>
            </a:endParaRPr>
          </a:p>
          <a:p>
            <a:pPr indent="-3937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ial"/>
              <a:buChar char="❖"/>
            </a:pPr>
            <a:r>
              <a:rPr lang="en-US" sz="2600" u="none">
                <a:latin typeface="Arial"/>
                <a:ea typeface="Arial"/>
                <a:cs typeface="Arial"/>
                <a:sym typeface="Arial"/>
              </a:rPr>
              <a:t>Padding=1 preserves spatial and temporal dimensions</a:t>
            </a:r>
            <a:endParaRPr b="1" sz="2500" u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g3da1d014ec3_0_17"/>
          <p:cNvSpPr txBox="1"/>
          <p:nvPr>
            <p:ph idx="1" type="body"/>
          </p:nvPr>
        </p:nvSpPr>
        <p:spPr>
          <a:xfrm>
            <a:off x="1830275" y="2692700"/>
            <a:ext cx="5185200" cy="6850500"/>
          </a:xfrm>
          <a:prstGeom prst="rect">
            <a:avLst/>
          </a:prstGeom>
          <a:solidFill>
            <a:srgbClr val="E3F2FD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3100" u="none">
                <a:latin typeface="Arial"/>
                <a:ea typeface="Arial"/>
                <a:cs typeface="Arial"/>
                <a:sym typeface="Arial"/>
              </a:rPr>
              <a:t>Input tensor: (batch, 3, 30, 32, 32)</a:t>
            </a:r>
            <a:endParaRPr b="1" sz="3100" u="none">
              <a:latin typeface="Arial"/>
              <a:ea typeface="Arial"/>
              <a:cs typeface="Arial"/>
              <a:sym typeface="Arial"/>
            </a:endParaRPr>
          </a:p>
          <a:p>
            <a:pPr indent="0" lvl="0" marL="18288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600" u="none">
                <a:latin typeface="Arial"/>
                <a:ea typeface="Arial"/>
                <a:cs typeface="Arial"/>
                <a:sym typeface="Arial"/>
              </a:rPr>
              <a:t>PyTorch Conv3D convention: (B, C, T, H, W)</a:t>
            </a:r>
            <a:endParaRPr sz="2600" u="none">
              <a:latin typeface="Arial"/>
              <a:ea typeface="Arial"/>
              <a:cs typeface="Arial"/>
              <a:sym typeface="Arial"/>
            </a:endParaRPr>
          </a:p>
          <a:p>
            <a:pPr indent="-165100" lvl="0" marL="64008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2600"/>
              <a:buFont typeface="Arial"/>
              <a:buChar char="❖"/>
            </a:pPr>
            <a:r>
              <a:rPr lang="en-US" sz="2600" u="none">
                <a:latin typeface="Arial"/>
                <a:ea typeface="Arial"/>
                <a:cs typeface="Arial"/>
                <a:sym typeface="Arial"/>
              </a:rPr>
              <a:t>B = batch size (16)</a:t>
            </a:r>
            <a:endParaRPr sz="2600" u="none">
              <a:latin typeface="Arial"/>
              <a:ea typeface="Arial"/>
              <a:cs typeface="Arial"/>
              <a:sym typeface="Arial"/>
            </a:endParaRPr>
          </a:p>
          <a:p>
            <a:pPr indent="-165100" lvl="0" marL="64008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ial"/>
              <a:buChar char="❖"/>
            </a:pPr>
            <a:r>
              <a:rPr lang="en-US" sz="2600" u="none">
                <a:latin typeface="Arial"/>
                <a:ea typeface="Arial"/>
                <a:cs typeface="Arial"/>
                <a:sym typeface="Arial"/>
              </a:rPr>
              <a:t>C = 3 channels (R=beta, G=alpha, B=delta)</a:t>
            </a:r>
            <a:endParaRPr sz="2600" u="none">
              <a:latin typeface="Arial"/>
              <a:ea typeface="Arial"/>
              <a:cs typeface="Arial"/>
              <a:sym typeface="Arial"/>
            </a:endParaRPr>
          </a:p>
          <a:p>
            <a:pPr indent="-165100" lvl="0" marL="64008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ial"/>
              <a:buChar char="❖"/>
            </a:pPr>
            <a:r>
              <a:rPr lang="en-US" sz="2600" u="none">
                <a:latin typeface="Arial"/>
                <a:ea typeface="Arial"/>
                <a:cs typeface="Arial"/>
                <a:sym typeface="Arial"/>
              </a:rPr>
              <a:t>T = 30 time slices</a:t>
            </a:r>
            <a:endParaRPr sz="2600" u="none">
              <a:latin typeface="Arial"/>
              <a:ea typeface="Arial"/>
              <a:cs typeface="Arial"/>
              <a:sym typeface="Arial"/>
            </a:endParaRPr>
          </a:p>
          <a:p>
            <a:pPr indent="-165100" lvl="0" marL="64008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ial"/>
              <a:buChar char="❖"/>
            </a:pPr>
            <a:r>
              <a:rPr lang="en-US" sz="2600" u="none">
                <a:latin typeface="Arial"/>
                <a:ea typeface="Arial"/>
                <a:cs typeface="Arial"/>
                <a:sym typeface="Arial"/>
              </a:rPr>
              <a:t>H = W = 32 spatial grid</a:t>
            </a:r>
            <a:endParaRPr sz="2600" u="none">
              <a:latin typeface="Arial"/>
              <a:ea typeface="Arial"/>
              <a:cs typeface="Arial"/>
              <a:sym typeface="Arial"/>
            </a:endParaRPr>
          </a:p>
          <a:p>
            <a:pPr indent="0" lvl="0" marL="182880" marR="18288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 u="non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da1d014ec3_0_26"/>
          <p:cNvSpPr txBox="1"/>
          <p:nvPr>
            <p:ph type="title"/>
          </p:nvPr>
        </p:nvSpPr>
        <p:spPr>
          <a:xfrm>
            <a:off x="6529350" y="235525"/>
            <a:ext cx="5229300" cy="17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69050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Input tensor</a:t>
            </a:r>
            <a:endParaRPr/>
          </a:p>
        </p:txBody>
      </p:sp>
      <p:sp>
        <p:nvSpPr>
          <p:cNvPr id="196" name="Google Shape;196;g3da1d014ec3_0_26"/>
          <p:cNvSpPr/>
          <p:nvPr/>
        </p:nvSpPr>
        <p:spPr>
          <a:xfrm>
            <a:off x="1996598" y="2897752"/>
            <a:ext cx="14845800" cy="7017600"/>
          </a:xfrm>
          <a:prstGeom prst="rect">
            <a:avLst/>
          </a:prstGeom>
          <a:solidFill>
            <a:schemeClr val="lt1"/>
          </a:solidFill>
          <a:ln cap="flat" cmpd="sng" w="92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100" lIns="89100" spcFirstLastPara="1" rIns="89100" wrap="square" tIns="89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64"/>
              <a:buFont typeface="Arial"/>
              <a:buNone/>
            </a:pPr>
            <a:r>
              <a:t/>
            </a:r>
            <a:endParaRPr b="0" i="0" sz="1364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7" name="Google Shape;197;g3da1d014ec3_0_26"/>
          <p:cNvSpPr/>
          <p:nvPr/>
        </p:nvSpPr>
        <p:spPr>
          <a:xfrm>
            <a:off x="1996600" y="2897750"/>
            <a:ext cx="14845800" cy="1437600"/>
          </a:xfrm>
          <a:prstGeom prst="rect">
            <a:avLst/>
          </a:prstGeom>
          <a:solidFill>
            <a:srgbClr val="F3E5F5"/>
          </a:solidFill>
          <a:ln cap="flat" cmpd="sng" w="92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100" lIns="89100" spcFirstLastPara="1" rIns="89100" wrap="square" tIns="89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64"/>
              <a:buFont typeface="Arial"/>
              <a:buNone/>
            </a:pPr>
            <a:r>
              <a:t/>
            </a:r>
            <a:endParaRPr b="0" i="0" sz="1364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8" name="Google Shape;198;g3da1d014ec3_0_26"/>
          <p:cNvSpPr/>
          <p:nvPr/>
        </p:nvSpPr>
        <p:spPr>
          <a:xfrm>
            <a:off x="2015505" y="4335323"/>
            <a:ext cx="7506900" cy="5599200"/>
          </a:xfrm>
          <a:prstGeom prst="rect">
            <a:avLst/>
          </a:prstGeom>
          <a:solidFill>
            <a:srgbClr val="E3F2FD"/>
          </a:solidFill>
          <a:ln cap="flat" cmpd="sng" w="92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100" lIns="89100" spcFirstLastPara="1" rIns="89100" wrap="square" tIns="891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</a:endParaRPr>
          </a:p>
          <a:p>
            <a:pPr indent="-406400" lvl="0" marL="9144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Char char="❖"/>
            </a:pPr>
            <a:r>
              <a:rPr lang="en-US" sz="2800">
                <a:solidFill>
                  <a:schemeClr val="dk1"/>
                </a:solidFill>
              </a:rPr>
              <a:t>3×3 spatial receptive field</a:t>
            </a:r>
            <a:endParaRPr sz="2800">
              <a:solidFill>
                <a:schemeClr val="dk1"/>
              </a:solidFill>
            </a:endParaRPr>
          </a:p>
          <a:p>
            <a:pPr indent="-40640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❖"/>
            </a:pPr>
            <a:r>
              <a:rPr lang="en-US" sz="2800">
                <a:solidFill>
                  <a:schemeClr val="dk1"/>
                </a:solidFill>
              </a:rPr>
              <a:t>5 temporal frames lookback</a:t>
            </a:r>
            <a:endParaRPr sz="2800">
              <a:solidFill>
                <a:schemeClr val="dk1"/>
              </a:solidFill>
            </a:endParaRPr>
          </a:p>
          <a:p>
            <a:pPr indent="-40640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❖"/>
            </a:pPr>
            <a:r>
              <a:rPr lang="en-US" sz="2800">
                <a:solidFill>
                  <a:schemeClr val="dk1"/>
                </a:solidFill>
              </a:rPr>
              <a:t>3 input channels (frequency bands)</a:t>
            </a:r>
            <a:endParaRPr sz="2800">
              <a:solidFill>
                <a:schemeClr val="dk1"/>
              </a:solidFill>
            </a:endParaRPr>
          </a:p>
          <a:p>
            <a:pPr indent="-40640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❖"/>
            </a:pPr>
            <a:r>
              <a:rPr lang="en-US" sz="2800">
                <a:solidFill>
                  <a:schemeClr val="dk1"/>
                </a:solidFill>
              </a:rPr>
              <a:t>64 output feature maps</a:t>
            </a:r>
            <a:endParaRPr b="1" sz="28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39"/>
              <a:buFont typeface="Arial"/>
              <a:buNone/>
            </a:pPr>
            <a:r>
              <a:t/>
            </a:r>
            <a:endParaRPr sz="2338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9" name="Google Shape;199;g3da1d014ec3_0_26"/>
          <p:cNvSpPr/>
          <p:nvPr/>
        </p:nvSpPr>
        <p:spPr>
          <a:xfrm>
            <a:off x="9522218" y="4335225"/>
            <a:ext cx="7320300" cy="5599200"/>
          </a:xfrm>
          <a:prstGeom prst="rect">
            <a:avLst/>
          </a:prstGeom>
          <a:solidFill>
            <a:srgbClr val="E8F5E9"/>
          </a:solidFill>
          <a:ln cap="flat" cmpd="sng" w="92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100" lIns="89100" spcFirstLastPara="1" rIns="89100" wrap="square" tIns="89100">
            <a:noAutofit/>
          </a:bodyPr>
          <a:lstStyle/>
          <a:p>
            <a:pPr indent="-400050" lvl="0" marL="9144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00"/>
              <a:buChar char="❖"/>
            </a:pPr>
            <a:r>
              <a:rPr lang="en-US" sz="2700">
                <a:solidFill>
                  <a:schemeClr val="dk1"/>
                </a:solidFill>
              </a:rPr>
              <a:t>X dimension (brain left-right)</a:t>
            </a:r>
            <a:endParaRPr sz="2700">
              <a:solidFill>
                <a:schemeClr val="dk1"/>
              </a:solidFill>
            </a:endParaRPr>
          </a:p>
          <a:p>
            <a:pPr indent="-40005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❖"/>
            </a:pPr>
            <a:r>
              <a:rPr lang="en-US" sz="2700">
                <a:solidFill>
                  <a:schemeClr val="dk1"/>
                </a:solidFill>
              </a:rPr>
              <a:t>Y dimension (brain front-back)  </a:t>
            </a:r>
            <a:endParaRPr sz="2700">
              <a:solidFill>
                <a:schemeClr val="dk1"/>
              </a:solidFill>
            </a:endParaRPr>
          </a:p>
          <a:p>
            <a:pPr indent="-40005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❖"/>
            </a:pPr>
            <a:r>
              <a:rPr lang="en-US" sz="2700">
                <a:solidFill>
                  <a:schemeClr val="dk1"/>
                </a:solidFill>
              </a:rPr>
              <a:t>T dimension (time evolution)</a:t>
            </a:r>
            <a:endParaRPr sz="2338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0" name="Google Shape;200;g3da1d014ec3_0_26"/>
          <p:cNvSpPr txBox="1"/>
          <p:nvPr/>
        </p:nvSpPr>
        <p:spPr>
          <a:xfrm>
            <a:off x="2166475" y="3124725"/>
            <a:ext cx="7320300" cy="12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89100" lIns="89100" spcFirstLastPara="1" rIns="89100" wrap="square" tIns="89100">
            <a:noAutofit/>
          </a:bodyPr>
          <a:lstStyle/>
          <a:p>
            <a:pPr indent="0" lvl="0" marL="45720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chemeClr val="dk1"/>
                </a:solidFill>
              </a:rPr>
              <a:t>3D Kernel: (3, 3, 5, 3, 64) - </a:t>
            </a:r>
            <a:endParaRPr b="1" sz="2700">
              <a:solidFill>
                <a:schemeClr val="dk1"/>
              </a:solidFill>
            </a:endParaRPr>
          </a:p>
          <a:p>
            <a:pPr indent="0" lvl="0" marL="45720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chemeClr val="dk1"/>
                </a:solidFill>
              </a:rPr>
              <a:t>learns 64 filters</a:t>
            </a:r>
            <a:endParaRPr b="1" i="0" sz="4385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1" name="Google Shape;201;g3da1d014ec3_0_26"/>
          <p:cNvSpPr txBox="1"/>
          <p:nvPr/>
        </p:nvSpPr>
        <p:spPr>
          <a:xfrm>
            <a:off x="10253375" y="3255460"/>
            <a:ext cx="6144600" cy="9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89100" lIns="89100" spcFirstLastPara="1" rIns="89100" wrap="square" tIns="89100">
            <a:noAutofit/>
          </a:bodyPr>
          <a:lstStyle/>
          <a:p>
            <a:pPr indent="0" lvl="0" marL="45720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chemeClr val="dk1"/>
                </a:solidFill>
              </a:rPr>
              <a:t>Operation slides across</a:t>
            </a:r>
            <a:endParaRPr b="1" sz="4385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da1d014ec3_0_90"/>
          <p:cNvSpPr txBox="1"/>
          <p:nvPr>
            <p:ph type="title"/>
          </p:nvPr>
        </p:nvSpPr>
        <p:spPr>
          <a:xfrm>
            <a:off x="4638250" y="310246"/>
            <a:ext cx="9562500" cy="17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6905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Feature Extraction Process</a:t>
            </a:r>
            <a:endParaRPr/>
          </a:p>
        </p:txBody>
      </p:sp>
      <p:sp>
        <p:nvSpPr>
          <p:cNvPr id="207" name="Google Shape;207;g3da1d014ec3_0_90"/>
          <p:cNvSpPr/>
          <p:nvPr/>
        </p:nvSpPr>
        <p:spPr>
          <a:xfrm>
            <a:off x="1996598" y="2897752"/>
            <a:ext cx="14845800" cy="7017600"/>
          </a:xfrm>
          <a:prstGeom prst="rect">
            <a:avLst/>
          </a:prstGeom>
          <a:solidFill>
            <a:schemeClr val="lt1"/>
          </a:solidFill>
          <a:ln cap="flat" cmpd="sng" w="92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100" lIns="89100" spcFirstLastPara="1" rIns="89100" wrap="square" tIns="89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64"/>
              <a:buFont typeface="Arial"/>
              <a:buNone/>
            </a:pPr>
            <a:r>
              <a:t/>
            </a:r>
            <a:endParaRPr b="0" i="0" sz="1364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8" name="Google Shape;208;g3da1d014ec3_0_90"/>
          <p:cNvSpPr/>
          <p:nvPr/>
        </p:nvSpPr>
        <p:spPr>
          <a:xfrm>
            <a:off x="1996600" y="2897751"/>
            <a:ext cx="14845800" cy="837600"/>
          </a:xfrm>
          <a:prstGeom prst="rect">
            <a:avLst/>
          </a:prstGeom>
          <a:solidFill>
            <a:srgbClr val="F3E5F5"/>
          </a:solidFill>
          <a:ln cap="flat" cmpd="sng" w="92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100" lIns="89100" spcFirstLastPara="1" rIns="89100" wrap="square" tIns="89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64"/>
              <a:buFont typeface="Arial"/>
              <a:buNone/>
            </a:pPr>
            <a:r>
              <a:t/>
            </a:r>
            <a:endParaRPr b="0" i="0" sz="1364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9" name="Google Shape;209;g3da1d014ec3_0_90"/>
          <p:cNvSpPr/>
          <p:nvPr/>
        </p:nvSpPr>
        <p:spPr>
          <a:xfrm>
            <a:off x="2015500" y="3735350"/>
            <a:ext cx="7506900" cy="6199200"/>
          </a:xfrm>
          <a:prstGeom prst="rect">
            <a:avLst/>
          </a:prstGeom>
          <a:solidFill>
            <a:srgbClr val="E3F2FD"/>
          </a:solidFill>
          <a:ln cap="flat" cmpd="sng" w="92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100" lIns="89100" spcFirstLastPara="1" rIns="89100" wrap="square" tIns="89100">
            <a:no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➔"/>
            </a:pPr>
            <a:r>
              <a:rPr b="1" lang="en-US" sz="2000">
                <a:solidFill>
                  <a:schemeClr val="dk1"/>
                </a:solidFill>
              </a:rPr>
              <a:t>Sleep Disorder CNN Architecture (288,101 parameters):</a:t>
            </a:r>
            <a:endParaRPr b="1"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➔"/>
            </a:pPr>
            <a:r>
              <a:rPr b="1" lang="en-US" sz="2000">
                <a:solidFill>
                  <a:schemeClr val="dk1"/>
                </a:solidFill>
              </a:rPr>
              <a:t>Input: (batch, 3, 30, 32, 32)</a:t>
            </a:r>
            <a:endParaRPr b="1"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➔"/>
            </a:pPr>
            <a:r>
              <a:rPr b="1" lang="en-US" sz="2000">
                <a:solidFill>
                  <a:schemeClr val="dk1"/>
                </a:solidFill>
              </a:rPr>
              <a:t>Block 1: Conv3D(3→32, k=3, pad=1) + BatchNorm + ReLU</a:t>
            </a:r>
            <a:endParaRPr b="1"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➔"/>
            </a:pPr>
            <a:r>
              <a:rPr b="1" lang="en-US" sz="2000">
                <a:solidFill>
                  <a:schemeClr val="dk1"/>
                </a:solidFill>
              </a:rPr>
              <a:t>         MaxPool3D(2,2,2)</a:t>
            </a:r>
            <a:endParaRPr b="1"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➔"/>
            </a:pPr>
            <a:r>
              <a:rPr b="1" lang="en-US" sz="2000">
                <a:solidFill>
                  <a:schemeClr val="dk1"/>
                </a:solidFill>
              </a:rPr>
              <a:t>         Output: (batch, 32, 15, 16, 16)</a:t>
            </a:r>
            <a:endParaRPr b="1"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➔"/>
            </a:pPr>
            <a:r>
              <a:rPr b="1" lang="en-US" sz="2000">
                <a:solidFill>
                  <a:schemeClr val="dk1"/>
                </a:solidFill>
              </a:rPr>
              <a:t>Block 2: Conv3D(32→64, k=3, pad=1) + BatchNorm + ReLU</a:t>
            </a:r>
            <a:endParaRPr b="1"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➔"/>
            </a:pPr>
            <a:r>
              <a:rPr b="1" lang="en-US" sz="2000">
                <a:solidFill>
                  <a:schemeClr val="dk1"/>
                </a:solidFill>
              </a:rPr>
              <a:t>         MaxPool3D(2,2,2)</a:t>
            </a:r>
            <a:endParaRPr b="1"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➔"/>
            </a:pPr>
            <a:r>
              <a:rPr b="1" lang="en-US" sz="2000">
                <a:solidFill>
                  <a:schemeClr val="dk1"/>
                </a:solidFill>
              </a:rPr>
              <a:t>         Output: (batch, 64, 7, 8, 8)</a:t>
            </a:r>
            <a:endParaRPr b="1" sz="1900">
              <a:solidFill>
                <a:schemeClr val="dk1"/>
              </a:solidFill>
            </a:endParaRPr>
          </a:p>
        </p:txBody>
      </p:sp>
      <p:sp>
        <p:nvSpPr>
          <p:cNvPr id="210" name="Google Shape;210;g3da1d014ec3_0_90"/>
          <p:cNvSpPr/>
          <p:nvPr/>
        </p:nvSpPr>
        <p:spPr>
          <a:xfrm>
            <a:off x="9522225" y="3735225"/>
            <a:ext cx="7320300" cy="6199200"/>
          </a:xfrm>
          <a:prstGeom prst="rect">
            <a:avLst/>
          </a:prstGeom>
          <a:solidFill>
            <a:srgbClr val="E8F5E9"/>
          </a:solidFill>
          <a:ln cap="flat" cmpd="sng" w="92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100" lIns="89100" spcFirstLastPara="1" rIns="89100" wrap="square" tIns="89100">
            <a:no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➔"/>
            </a:pPr>
            <a:r>
              <a:rPr b="1" lang="en-US" sz="2000">
                <a:solidFill>
                  <a:schemeClr val="dk1"/>
                </a:solidFill>
              </a:rPr>
              <a:t>Block 3: Conv3D(64→128, k=3, pad=1) + BatchNorm + ReLU</a:t>
            </a:r>
            <a:endParaRPr b="1"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➔"/>
            </a:pPr>
            <a:r>
              <a:rPr b="1" lang="en-US" sz="2000">
                <a:solidFill>
                  <a:schemeClr val="dk1"/>
                </a:solidFill>
              </a:rPr>
              <a:t>         AdaptiveAvgPool3D(1)</a:t>
            </a:r>
            <a:endParaRPr b="1"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➔"/>
            </a:pPr>
            <a:r>
              <a:rPr b="1" lang="en-US" sz="2000">
                <a:solidFill>
                  <a:schemeClr val="dk1"/>
                </a:solidFill>
              </a:rPr>
              <a:t>         Output: (batch, 128, 1, 1, 1)</a:t>
            </a:r>
            <a:endParaRPr b="1"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➔"/>
            </a:pPr>
            <a:r>
              <a:t/>
            </a:r>
            <a:endParaRPr b="1"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➔"/>
            </a:pPr>
            <a:r>
              <a:rPr b="1" lang="en-US" sz="2000">
                <a:solidFill>
                  <a:schemeClr val="dk1"/>
                </a:solidFill>
              </a:rPr>
              <a:t>Classifier: Flatten → Linear(128→64) → ReLU</a:t>
            </a:r>
            <a:endParaRPr b="1"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➔"/>
            </a:pPr>
            <a:r>
              <a:rPr b="1" lang="en-US" sz="2000">
                <a:solidFill>
                  <a:schemeClr val="dk1"/>
                </a:solidFill>
              </a:rPr>
              <a:t>            → Dropout(0.5) → Linear(64→n_classes)</a:t>
            </a:r>
            <a:endParaRPr b="1" sz="20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</a:rPr>
              <a:t>Why AdaptiveAvgPool (not MaxPool) in Block 3:</a:t>
            </a:r>
            <a:endParaRPr b="1" sz="20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Collapses entire epoch into 128 numbers representing</a:t>
            </a:r>
            <a:endParaRPr sz="20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Sustained pattern strength — more robust to disorder</a:t>
            </a:r>
            <a:endParaRPr sz="20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Signatures that persist over time than single peak events</a:t>
            </a:r>
            <a:endParaRPr sz="2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da1d014ec3_0_80"/>
          <p:cNvSpPr txBox="1"/>
          <p:nvPr>
            <p:ph type="title"/>
          </p:nvPr>
        </p:nvSpPr>
        <p:spPr>
          <a:xfrm>
            <a:off x="7519200" y="235525"/>
            <a:ext cx="3249600" cy="17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6905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Contd...</a:t>
            </a:r>
            <a:endParaRPr/>
          </a:p>
        </p:txBody>
      </p:sp>
      <p:sp>
        <p:nvSpPr>
          <p:cNvPr id="216" name="Google Shape;216;g3da1d014ec3_0_80"/>
          <p:cNvSpPr/>
          <p:nvPr/>
        </p:nvSpPr>
        <p:spPr>
          <a:xfrm>
            <a:off x="1996598" y="2897752"/>
            <a:ext cx="14845800" cy="7017600"/>
          </a:xfrm>
          <a:prstGeom prst="rect">
            <a:avLst/>
          </a:prstGeom>
          <a:solidFill>
            <a:schemeClr val="lt1"/>
          </a:solidFill>
          <a:ln cap="flat" cmpd="sng" w="92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100" lIns="89100" spcFirstLastPara="1" rIns="89100" wrap="square" tIns="89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64"/>
              <a:buFont typeface="Arial"/>
              <a:buNone/>
            </a:pPr>
            <a:r>
              <a:t/>
            </a:r>
            <a:endParaRPr b="0" i="0" sz="1364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7" name="Google Shape;217;g3da1d014ec3_0_80"/>
          <p:cNvSpPr/>
          <p:nvPr/>
        </p:nvSpPr>
        <p:spPr>
          <a:xfrm>
            <a:off x="1996600" y="2897750"/>
            <a:ext cx="14845800" cy="1437600"/>
          </a:xfrm>
          <a:prstGeom prst="rect">
            <a:avLst/>
          </a:prstGeom>
          <a:solidFill>
            <a:srgbClr val="F3E5F5"/>
          </a:solidFill>
          <a:ln cap="flat" cmpd="sng" w="92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100" lIns="89100" spcFirstLastPara="1" rIns="89100" wrap="square" tIns="89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64"/>
              <a:buFont typeface="Arial"/>
              <a:buNone/>
            </a:pPr>
            <a:r>
              <a:t/>
            </a:r>
            <a:endParaRPr b="0" i="0" sz="1364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8" name="Google Shape;218;g3da1d014ec3_0_80"/>
          <p:cNvSpPr/>
          <p:nvPr/>
        </p:nvSpPr>
        <p:spPr>
          <a:xfrm>
            <a:off x="2015505" y="4335323"/>
            <a:ext cx="7506900" cy="5599200"/>
          </a:xfrm>
          <a:prstGeom prst="rect">
            <a:avLst/>
          </a:prstGeom>
          <a:solidFill>
            <a:srgbClr val="E3F2FD"/>
          </a:solidFill>
          <a:ln cap="flat" cmpd="sng" w="92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100" lIns="89100" spcFirstLastPara="1" rIns="89100" wrap="square" tIns="89100">
            <a:noAutofit/>
          </a:bodyPr>
          <a:lstStyle/>
          <a:p>
            <a:pPr indent="-3746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300"/>
              <a:buChar char="❖"/>
            </a:pPr>
            <a:r>
              <a:rPr b="1" lang="en-US" sz="2300">
                <a:solidFill>
                  <a:schemeClr val="dk1"/>
                </a:solidFill>
              </a:rPr>
              <a:t>Low-level features (early layers):</a:t>
            </a:r>
            <a:endParaRPr b="1" sz="2300">
              <a:solidFill>
                <a:schemeClr val="dk1"/>
              </a:solidFill>
            </a:endParaRPr>
          </a:p>
          <a:p>
            <a:pPr indent="-3746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➢"/>
            </a:pPr>
            <a:r>
              <a:rPr lang="en-US" sz="2300">
                <a:solidFill>
                  <a:schemeClr val="dk1"/>
                </a:solidFill>
              </a:rPr>
              <a:t>Edges and gradients in spatial domain</a:t>
            </a:r>
            <a:endParaRPr sz="2300">
              <a:solidFill>
                <a:schemeClr val="dk1"/>
              </a:solidFill>
            </a:endParaRPr>
          </a:p>
          <a:p>
            <a:pPr indent="-3746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➢"/>
            </a:pPr>
            <a:r>
              <a:rPr lang="en-US" sz="2300">
                <a:solidFill>
                  <a:schemeClr val="dk1"/>
                </a:solidFill>
              </a:rPr>
              <a:t>Frequency transitions over time</a:t>
            </a:r>
            <a:endParaRPr sz="2300">
              <a:solidFill>
                <a:schemeClr val="dk1"/>
              </a:solidFill>
            </a:endParaRPr>
          </a:p>
          <a:p>
            <a:pPr indent="-3746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➢"/>
            </a:pPr>
            <a:r>
              <a:rPr lang="en-US" sz="2300">
                <a:solidFill>
                  <a:schemeClr val="dk1"/>
                </a:solidFill>
              </a:rPr>
              <a:t>Local power changes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❖"/>
            </a:pPr>
            <a:r>
              <a:rPr b="1" lang="en-US" sz="2300">
                <a:solidFill>
                  <a:schemeClr val="dk1"/>
                </a:solidFill>
              </a:rPr>
              <a:t>Mid-level features:</a:t>
            </a:r>
            <a:endParaRPr b="1" sz="2300">
              <a:solidFill>
                <a:schemeClr val="dk1"/>
              </a:solidFill>
            </a:endParaRPr>
          </a:p>
          <a:p>
            <a:pPr indent="-3746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➢"/>
            </a:pPr>
            <a:r>
              <a:rPr lang="en-US" sz="2300">
                <a:solidFill>
                  <a:schemeClr val="dk1"/>
                </a:solidFill>
              </a:rPr>
              <a:t>Spatial patterns (activity clusters in specific brain regions)</a:t>
            </a:r>
            <a:endParaRPr sz="2300">
              <a:solidFill>
                <a:schemeClr val="dk1"/>
              </a:solidFill>
            </a:endParaRPr>
          </a:p>
          <a:p>
            <a:pPr indent="-3746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➢"/>
            </a:pPr>
            <a:r>
              <a:rPr lang="en-US" sz="2300">
                <a:solidFill>
                  <a:schemeClr val="dk1"/>
                </a:solidFill>
              </a:rPr>
              <a:t>Temporal patterns (rhythmic oscillations, bursts)</a:t>
            </a:r>
            <a:endParaRPr sz="2300">
              <a:solidFill>
                <a:schemeClr val="dk1"/>
              </a:solidFill>
            </a:endParaRPr>
          </a:p>
          <a:p>
            <a:pPr indent="-3746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➢"/>
            </a:pPr>
            <a:r>
              <a:rPr b="1" lang="en-US" sz="2300">
                <a:solidFill>
                  <a:schemeClr val="dk1"/>
                </a:solidFill>
              </a:rPr>
              <a:t>Example</a:t>
            </a:r>
            <a:r>
              <a:rPr lang="en-US" sz="2300">
                <a:solidFill>
                  <a:schemeClr val="dk1"/>
                </a:solidFill>
              </a:rPr>
              <a:t>: Beta burst propagation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❖"/>
            </a:pPr>
            <a:r>
              <a:rPr b="1" lang="en-US" sz="2300">
                <a:solidFill>
                  <a:schemeClr val="dk1"/>
                </a:solidFill>
              </a:rPr>
              <a:t>High-level features (deep layers):</a:t>
            </a:r>
            <a:endParaRPr b="1" sz="2300">
              <a:solidFill>
                <a:schemeClr val="dk1"/>
              </a:solidFill>
            </a:endParaRPr>
          </a:p>
          <a:p>
            <a:pPr indent="-3746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➢"/>
            </a:pPr>
            <a:r>
              <a:rPr lang="en-US" sz="2300">
                <a:solidFill>
                  <a:schemeClr val="dk1"/>
                </a:solidFill>
              </a:rPr>
              <a:t>Complete sleep event "shapes"</a:t>
            </a:r>
            <a:endParaRPr sz="2300">
              <a:solidFill>
                <a:schemeClr val="dk1"/>
              </a:solidFill>
            </a:endParaRPr>
          </a:p>
          <a:p>
            <a:pPr indent="-3746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➢"/>
            </a:pPr>
            <a:r>
              <a:rPr lang="en-US" sz="2300">
                <a:solidFill>
                  <a:schemeClr val="dk1"/>
                </a:solidFill>
              </a:rPr>
              <a:t>Spatio-temporal signatures of disorders</a:t>
            </a:r>
            <a:endParaRPr b="1" sz="2200">
              <a:solidFill>
                <a:schemeClr val="dk1"/>
              </a:solidFill>
            </a:endParaRPr>
          </a:p>
        </p:txBody>
      </p:sp>
      <p:sp>
        <p:nvSpPr>
          <p:cNvPr id="219" name="Google Shape;219;g3da1d014ec3_0_80"/>
          <p:cNvSpPr/>
          <p:nvPr/>
        </p:nvSpPr>
        <p:spPr>
          <a:xfrm>
            <a:off x="9522218" y="4335225"/>
            <a:ext cx="7320300" cy="5599200"/>
          </a:xfrm>
          <a:prstGeom prst="rect">
            <a:avLst/>
          </a:prstGeom>
          <a:solidFill>
            <a:srgbClr val="E8F5E9"/>
          </a:solidFill>
          <a:ln cap="flat" cmpd="sng" w="92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100" lIns="89100" spcFirstLastPara="1" rIns="89100" wrap="square" tIns="89100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dk1"/>
                </a:solidFill>
              </a:rPr>
              <a:t>Network learns:</a:t>
            </a:r>
            <a:endParaRPr b="1" sz="3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Char char="❖"/>
            </a:pPr>
            <a:r>
              <a:rPr lang="en-US" sz="2800">
                <a:solidFill>
                  <a:schemeClr val="dk1"/>
                </a:solidFill>
              </a:rPr>
              <a:t>Layer 1: Detects high-frequency activity (Beta band, Red channel)</a:t>
            </a:r>
            <a:endParaRPr sz="2800">
              <a:solidFill>
                <a:schemeClr val="dk1"/>
              </a:solidFill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❖"/>
            </a:pPr>
            <a:r>
              <a:rPr lang="en-US" sz="2800">
                <a:solidFill>
                  <a:schemeClr val="dk1"/>
                </a:solidFill>
              </a:rPr>
              <a:t>Layer 2: Identifies frontal lobe activation at time t₁</a:t>
            </a:r>
            <a:endParaRPr sz="2800">
              <a:solidFill>
                <a:schemeClr val="dk1"/>
              </a:solidFill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❖"/>
            </a:pPr>
            <a:r>
              <a:rPr lang="en-US" sz="2800">
                <a:solidFill>
                  <a:schemeClr val="dk1"/>
                </a:solidFill>
              </a:rPr>
              <a:t>Layer 3: Tracks expansion to central regions at t₂, t₃</a:t>
            </a:r>
            <a:endParaRPr sz="2800">
              <a:solidFill>
                <a:schemeClr val="dk1"/>
              </a:solidFill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❖"/>
            </a:pPr>
            <a:r>
              <a:rPr lang="en-US" sz="2800">
                <a:solidFill>
                  <a:schemeClr val="dk1"/>
                </a:solidFill>
              </a:rPr>
              <a:t>Layer 4: Recognizes full propagation pattern as "sleep spindle" signature</a:t>
            </a:r>
            <a:endParaRPr sz="2700">
              <a:solidFill>
                <a:schemeClr val="dk1"/>
              </a:solidFill>
            </a:endParaRPr>
          </a:p>
        </p:txBody>
      </p:sp>
      <p:sp>
        <p:nvSpPr>
          <p:cNvPr id="220" name="Google Shape;220;g3da1d014ec3_0_80"/>
          <p:cNvSpPr txBox="1"/>
          <p:nvPr/>
        </p:nvSpPr>
        <p:spPr>
          <a:xfrm>
            <a:off x="2166475" y="3427125"/>
            <a:ext cx="7320300" cy="9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89100" lIns="89100" spcFirstLastPara="1" rIns="89100" wrap="square" tIns="891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None/>
            </a:pPr>
            <a:r>
              <a:rPr b="1" lang="en-US" sz="2900">
                <a:solidFill>
                  <a:schemeClr val="dk1"/>
                </a:solidFill>
              </a:rPr>
              <a:t>What the network learns</a:t>
            </a:r>
            <a:endParaRPr b="1" i="0" sz="4385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1" name="Google Shape;221;g3da1d014ec3_0_80"/>
          <p:cNvSpPr txBox="1"/>
          <p:nvPr/>
        </p:nvSpPr>
        <p:spPr>
          <a:xfrm>
            <a:off x="10253375" y="3255460"/>
            <a:ext cx="6144600" cy="9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89100" lIns="89100" spcFirstLastPara="1" rIns="89100" wrap="square" tIns="891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800">
                <a:solidFill>
                  <a:schemeClr val="dk1"/>
                </a:solidFill>
              </a:rPr>
              <a:t>Beta Burst Propagation</a:t>
            </a:r>
            <a:endParaRPr b="1" sz="4385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0"/>
          <p:cNvSpPr txBox="1"/>
          <p:nvPr>
            <p:ph type="title"/>
          </p:nvPr>
        </p:nvSpPr>
        <p:spPr>
          <a:xfrm>
            <a:off x="3809996" y="81925"/>
            <a:ext cx="11579400" cy="17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6905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Backpropagation &amp; Optimization</a:t>
            </a:r>
            <a:endParaRPr/>
          </a:p>
        </p:txBody>
      </p:sp>
      <p:sp>
        <p:nvSpPr>
          <p:cNvPr id="227" name="Google Shape;227;p30"/>
          <p:cNvSpPr txBox="1"/>
          <p:nvPr/>
        </p:nvSpPr>
        <p:spPr>
          <a:xfrm>
            <a:off x="1940925" y="2973779"/>
            <a:ext cx="15775800" cy="1580400"/>
          </a:xfrm>
          <a:prstGeom prst="rect">
            <a:avLst/>
          </a:prstGeom>
          <a:solidFill>
            <a:srgbClr val="F3E5F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81275">
            <a:spAutoFit/>
          </a:bodyPr>
          <a:lstStyle/>
          <a:p>
            <a:pPr indent="0" lvl="0" marL="18288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A. Adam Optimizer Algorithm</a:t>
            </a:r>
            <a:endParaRPr b="1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8288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Full name</a:t>
            </a: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Adaptive Moment Estimation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8288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Mathematical formulation:</a:t>
            </a:r>
            <a:endParaRPr b="1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30"/>
          <p:cNvSpPr/>
          <p:nvPr/>
        </p:nvSpPr>
        <p:spPr>
          <a:xfrm>
            <a:off x="1947325" y="4556250"/>
            <a:ext cx="7514100" cy="5307300"/>
          </a:xfrm>
          <a:prstGeom prst="rect">
            <a:avLst/>
          </a:prstGeom>
          <a:solidFill>
            <a:srgbClr val="E3F2F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AutoNum type="arabicPeriod"/>
            </a:pPr>
            <a:r>
              <a:rPr b="1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Hyperparameters</a:t>
            </a:r>
            <a:endParaRPr b="1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α = 0.001          # Learning rate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β₁ = 0.9           # Exponential decay for first moment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β₂ = 0.999         # Exponential decay for second moment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ε = 10⁻⁸           # Numerical stability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AutoNum type="arabicPeriod"/>
            </a:pPr>
            <a:r>
              <a:rPr b="1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Initialize</a:t>
            </a:r>
            <a:endParaRPr b="1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m₀ = 0             # First moment (mean of gradients)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v₀ = 0             # Second moment (variance of gradients)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9" name="Google Shape;229;p30"/>
          <p:cNvSpPr/>
          <p:nvPr/>
        </p:nvSpPr>
        <p:spPr>
          <a:xfrm>
            <a:off x="9461500" y="4556351"/>
            <a:ext cx="8255100" cy="5307300"/>
          </a:xfrm>
          <a:prstGeom prst="rect">
            <a:avLst/>
          </a:prstGeom>
          <a:solidFill>
            <a:srgbClr val="E8F5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At each iteration t:</a:t>
            </a:r>
            <a:endParaRPr b="1" i="0" sz="2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g_t = ∇Loss(θₜ)                     			# Compute gradient</a:t>
            </a:r>
            <a:endParaRPr b="0" i="0" sz="2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m_t = β₁ × m_(t-1) + (1-β₁) × g_t  	# Update first moment</a:t>
            </a:r>
            <a:endParaRPr b="0" i="0" sz="2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v_t = β₂ × v_(t-1) + (1-β₂) × g_t² 		# Update second moment</a:t>
            </a:r>
            <a:endParaRPr b="0" i="0" sz="2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m̂_t = m_t / (1 - β₁ᵗ)              			# Bias-corrected first moment</a:t>
            </a:r>
            <a:endParaRPr b="0" i="0" sz="2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v̂_t = v_t / (1 - β₂ᵗ)              			# Bias-corrected second moment</a:t>
            </a:r>
            <a:endParaRPr b="0" i="0" sz="2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θ_(t+1) = θ_t - α × m̂_t / (√v̂_t + ε)  	# Update parameters</a:t>
            </a:r>
            <a:endParaRPr b="0" i="0" sz="2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1"/>
          <p:cNvSpPr txBox="1"/>
          <p:nvPr>
            <p:ph type="title"/>
          </p:nvPr>
        </p:nvSpPr>
        <p:spPr>
          <a:xfrm>
            <a:off x="8128444" y="81925"/>
            <a:ext cx="3210000" cy="17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6905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Contd...</a:t>
            </a:r>
            <a:endParaRPr/>
          </a:p>
        </p:txBody>
      </p:sp>
      <p:sp>
        <p:nvSpPr>
          <p:cNvPr id="235" name="Google Shape;235;p31"/>
          <p:cNvSpPr txBox="1"/>
          <p:nvPr/>
        </p:nvSpPr>
        <p:spPr>
          <a:xfrm>
            <a:off x="1811625" y="2600250"/>
            <a:ext cx="15538800" cy="60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812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Why Adam for 4D data?</a:t>
            </a:r>
            <a:endParaRPr b="1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0" marL="45720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AutoNum type="arabicPeriod"/>
            </a:pP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Adaptive learning rates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Different parameters get different learning rates based on their gradient history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AutoNum type="arabicPeriod"/>
            </a:pP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Momentum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Accelerates convergence in relevant directions, dampens oscillations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AutoNum type="arabicPeriod"/>
            </a:pP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Handles sparse gradients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Effective even when only some features are active in 4D tensor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AutoNum type="arabicPeriod"/>
            </a:pP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Fast convergence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Combines benefits of RMSprop and Momentum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AutoNum type="arabicPeriod"/>
            </a:pP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Robust to hyperparameter choices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Works well with default settings</a:t>
            </a:r>
            <a:endParaRPr b="1" i="0" sz="4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2"/>
          <p:cNvSpPr txBox="1"/>
          <p:nvPr>
            <p:ph type="title"/>
          </p:nvPr>
        </p:nvSpPr>
        <p:spPr>
          <a:xfrm>
            <a:off x="8128444" y="81925"/>
            <a:ext cx="3210000" cy="17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6905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Contd...</a:t>
            </a:r>
            <a:endParaRPr/>
          </a:p>
        </p:txBody>
      </p:sp>
      <p:sp>
        <p:nvSpPr>
          <p:cNvPr id="241" name="Google Shape;241;p32"/>
          <p:cNvSpPr txBox="1"/>
          <p:nvPr/>
        </p:nvSpPr>
        <p:spPr>
          <a:xfrm>
            <a:off x="2307175" y="2600250"/>
            <a:ext cx="14990100" cy="1489800"/>
          </a:xfrm>
          <a:prstGeom prst="rect">
            <a:avLst/>
          </a:prstGeom>
          <a:solidFill>
            <a:srgbClr val="F3E5F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81275">
            <a:noAutofit/>
          </a:bodyPr>
          <a:lstStyle/>
          <a:p>
            <a:pPr indent="0" lvl="0" marL="182880" marR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Training loop</a:t>
            </a:r>
            <a:endParaRPr b="1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32"/>
          <p:cNvSpPr/>
          <p:nvPr/>
        </p:nvSpPr>
        <p:spPr>
          <a:xfrm>
            <a:off x="2307175" y="4090150"/>
            <a:ext cx="8318400" cy="5964000"/>
          </a:xfrm>
          <a:prstGeom prst="rect">
            <a:avLst/>
          </a:prstGeom>
          <a:solidFill>
            <a:srgbClr val="E3F2F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each epoch:</a:t>
            </a:r>
            <a:endParaRPr b="0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For each batch of 4D tensors:</a:t>
            </a:r>
            <a:endParaRPr b="0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</a:t>
            </a:r>
            <a:r>
              <a:rPr b="1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# Forward pass</a:t>
            </a:r>
            <a:endParaRPr b="1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predictions = 3D_CNN(input_batch)</a:t>
            </a:r>
            <a:endParaRPr b="0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loss = CrossEntropyLoss(predictions, true_labels)</a:t>
            </a:r>
            <a:endParaRPr b="0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</a:t>
            </a:r>
            <a:endParaRPr b="0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</a:t>
            </a:r>
            <a:r>
              <a:rPr b="1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# Backward pass</a:t>
            </a:r>
            <a:endParaRPr b="1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gradients = backpropagate(loss)</a:t>
            </a:r>
            <a:endParaRPr b="0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</a:t>
            </a:r>
            <a:endParaRPr b="0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</a:t>
            </a:r>
            <a:r>
              <a:rPr b="1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# Adam optimization</a:t>
            </a:r>
            <a:endParaRPr b="1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update_weights_with_adam(gradients)</a:t>
            </a:r>
            <a:endParaRPr b="0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</a:t>
            </a:r>
            <a:endParaRPr b="0" i="0" sz="2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3" name="Google Shape;243;p32"/>
          <p:cNvSpPr/>
          <p:nvPr/>
        </p:nvSpPr>
        <p:spPr>
          <a:xfrm>
            <a:off x="10625575" y="4090100"/>
            <a:ext cx="6671700" cy="5964000"/>
          </a:xfrm>
          <a:prstGeom prst="rect">
            <a:avLst/>
          </a:prstGeom>
          <a:solidFill>
            <a:srgbClr val="E8F5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Validate on validation set</a:t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If validation_loss improves:</a:t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Save best model</a:t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Else:</a:t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Increment patience counter</a:t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If patience exceeded:</a:t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Early stopping</a:t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da1d014ec3_0_38"/>
          <p:cNvSpPr txBox="1"/>
          <p:nvPr>
            <p:ph type="title"/>
          </p:nvPr>
        </p:nvSpPr>
        <p:spPr>
          <a:xfrm>
            <a:off x="6043650" y="403625"/>
            <a:ext cx="6200700" cy="14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6905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-US" sz="4400">
                <a:latin typeface="Arial"/>
                <a:ea typeface="Arial"/>
                <a:cs typeface="Arial"/>
                <a:sym typeface="Arial"/>
              </a:rPr>
              <a:t>Performance Metrics</a:t>
            </a:r>
            <a:endParaRPr/>
          </a:p>
        </p:txBody>
      </p:sp>
      <p:sp>
        <p:nvSpPr>
          <p:cNvPr id="249" name="Google Shape;249;g3da1d014ec3_0_38"/>
          <p:cNvSpPr/>
          <p:nvPr/>
        </p:nvSpPr>
        <p:spPr>
          <a:xfrm>
            <a:off x="1996598" y="2897752"/>
            <a:ext cx="14845800" cy="7017600"/>
          </a:xfrm>
          <a:prstGeom prst="rect">
            <a:avLst/>
          </a:prstGeom>
          <a:solidFill>
            <a:schemeClr val="lt1"/>
          </a:solidFill>
          <a:ln cap="flat" cmpd="sng" w="92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100" lIns="89100" spcFirstLastPara="1" rIns="89100" wrap="square" tIns="89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64"/>
              <a:buFont typeface="Arial"/>
              <a:buNone/>
            </a:pPr>
            <a:r>
              <a:t/>
            </a:r>
            <a:endParaRPr b="0" i="0" sz="1364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0" name="Google Shape;250;g3da1d014ec3_0_38"/>
          <p:cNvSpPr/>
          <p:nvPr/>
        </p:nvSpPr>
        <p:spPr>
          <a:xfrm>
            <a:off x="1996600" y="2897750"/>
            <a:ext cx="14845800" cy="1210500"/>
          </a:xfrm>
          <a:prstGeom prst="rect">
            <a:avLst/>
          </a:prstGeom>
          <a:solidFill>
            <a:srgbClr val="F3E5F5"/>
          </a:solidFill>
          <a:ln cap="flat" cmpd="sng" w="92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100" lIns="89100" spcFirstLastPara="1" rIns="89100" wrap="square" tIns="89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64"/>
              <a:buFont typeface="Arial"/>
              <a:buNone/>
            </a:pPr>
            <a:r>
              <a:t/>
            </a:r>
            <a:endParaRPr b="0" i="0" sz="1364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1" name="Google Shape;251;g3da1d014ec3_0_38"/>
          <p:cNvSpPr/>
          <p:nvPr/>
        </p:nvSpPr>
        <p:spPr>
          <a:xfrm>
            <a:off x="2015500" y="4108250"/>
            <a:ext cx="7506900" cy="5939700"/>
          </a:xfrm>
          <a:prstGeom prst="rect">
            <a:avLst/>
          </a:prstGeom>
          <a:solidFill>
            <a:srgbClr val="E3F2FD"/>
          </a:solidFill>
          <a:ln cap="flat" cmpd="sng" w="92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100" lIns="89100" spcFirstLastPara="1" rIns="89100" wrap="square" tIns="89100">
            <a:noAutofit/>
          </a:bodyPr>
          <a:lstStyle/>
          <a:p>
            <a:pPr indent="0" lvl="0" marL="18288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</a:rPr>
              <a:t>Total epochs (sleep only) : </a:t>
            </a:r>
            <a:r>
              <a:rPr lang="en-US" sz="2800">
                <a:solidFill>
                  <a:schemeClr val="dk1"/>
                </a:solidFill>
              </a:rPr>
              <a:t>3,452</a:t>
            </a:r>
            <a:endParaRPr sz="2800">
              <a:solidFill>
                <a:schemeClr val="dk1"/>
              </a:solidFill>
            </a:endParaRPr>
          </a:p>
          <a:p>
            <a:pPr indent="0" lvl="0" marL="18288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800">
                <a:solidFill>
                  <a:schemeClr val="dk1"/>
                </a:solidFill>
              </a:rPr>
              <a:t>Disorder classes : </a:t>
            </a:r>
            <a:r>
              <a:rPr lang="en-US" sz="2800">
                <a:solidFill>
                  <a:schemeClr val="dk1"/>
                </a:solidFill>
              </a:rPr>
              <a:t>5 (Normal, NFLE, Insomnia, Narcolepsy, Bruxism)</a:t>
            </a:r>
            <a:endParaRPr sz="2800">
              <a:solidFill>
                <a:schemeClr val="dk1"/>
              </a:solidFill>
            </a:endParaRPr>
          </a:p>
          <a:p>
            <a:pPr indent="0" lvl="0" marL="18288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</a:rPr>
              <a:t>Split : </a:t>
            </a:r>
            <a:r>
              <a:rPr lang="en-US" sz="2800">
                <a:solidFill>
                  <a:schemeClr val="dk1"/>
                </a:solidFill>
              </a:rPr>
              <a:t>70% train / 15% validation / 15% test (stratified)</a:t>
            </a:r>
            <a:endParaRPr sz="2800">
              <a:solidFill>
                <a:schemeClr val="dk1"/>
              </a:solidFill>
            </a:endParaRPr>
          </a:p>
          <a:p>
            <a:pPr indent="0" lvl="0" marL="18288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</a:rPr>
              <a:t>Model parameters : </a:t>
            </a:r>
            <a:r>
              <a:rPr lang="en-US" sz="2800">
                <a:solidFill>
                  <a:schemeClr val="dk1"/>
                </a:solidFill>
              </a:rPr>
              <a:t>288,101</a:t>
            </a:r>
            <a:endParaRPr sz="2800">
              <a:solidFill>
                <a:schemeClr val="dk1"/>
              </a:solidFill>
            </a:endParaRPr>
          </a:p>
          <a:p>
            <a:pPr indent="0" lvl="0" marL="18288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</a:rPr>
              <a:t>Training time : </a:t>
            </a:r>
            <a:r>
              <a:rPr lang="en-US" sz="2800">
                <a:solidFill>
                  <a:schemeClr val="dk1"/>
                </a:solidFill>
              </a:rPr>
              <a:t>~1 minute on RTX 3050 4GB GPU</a:t>
            </a:r>
            <a:endParaRPr sz="2800">
              <a:solidFill>
                <a:schemeClr val="dk1"/>
              </a:solidFill>
            </a:endParaRPr>
          </a:p>
          <a:p>
            <a:pPr indent="0" lvl="0" marL="18288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800">
                <a:solidFill>
                  <a:schemeClr val="dk1"/>
                </a:solidFill>
              </a:rPr>
              <a:t>Training epochs : </a:t>
            </a:r>
            <a:r>
              <a:rPr lang="en-US" sz="2800">
                <a:solidFill>
                  <a:schemeClr val="dk1"/>
                </a:solidFill>
              </a:rPr>
              <a:t>24  (early stopping, best model at epoch 9)</a:t>
            </a:r>
            <a:endParaRPr b="1" sz="16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39"/>
              <a:buFont typeface="Arial"/>
              <a:buNone/>
            </a:pPr>
            <a:r>
              <a:t/>
            </a:r>
            <a:endParaRPr sz="1538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2" name="Google Shape;252;g3da1d014ec3_0_38"/>
          <p:cNvSpPr/>
          <p:nvPr/>
        </p:nvSpPr>
        <p:spPr>
          <a:xfrm>
            <a:off x="9522225" y="4108125"/>
            <a:ext cx="7320300" cy="5939700"/>
          </a:xfrm>
          <a:prstGeom prst="rect">
            <a:avLst/>
          </a:prstGeom>
          <a:solidFill>
            <a:srgbClr val="E8F5E9"/>
          </a:solidFill>
          <a:ln cap="flat" cmpd="sng" w="92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100" lIns="89100" spcFirstLastPara="1" rIns="89100" wrap="square" tIns="891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</a:rPr>
              <a:t>Validation Accuracy : 80.8%</a:t>
            </a:r>
            <a:endParaRPr sz="3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</a:rPr>
              <a:t>Test Accuracy : 81.4% ← test &gt; val confirms no overfitting</a:t>
            </a:r>
            <a:endParaRPr sz="3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>
                <a:solidFill>
                  <a:schemeClr val="dk1"/>
                </a:solidFill>
              </a:rPr>
              <a:t>Weighted F1-Score   : 0.83</a:t>
            </a:r>
            <a:endParaRPr sz="2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3" name="Google Shape;253;g3da1d014ec3_0_38"/>
          <p:cNvSpPr txBox="1"/>
          <p:nvPr/>
        </p:nvSpPr>
        <p:spPr>
          <a:xfrm>
            <a:off x="2820151" y="3162078"/>
            <a:ext cx="5677800" cy="7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89100" lIns="89100" spcFirstLastPara="1" rIns="89100" wrap="square" tIns="891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100">
                <a:solidFill>
                  <a:schemeClr val="dk1"/>
                </a:solidFill>
              </a:rPr>
              <a:t>Dataset</a:t>
            </a:r>
            <a:endParaRPr b="1" i="0" sz="2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4" name="Google Shape;254;g3da1d014ec3_0_38"/>
          <p:cNvSpPr txBox="1"/>
          <p:nvPr/>
        </p:nvSpPr>
        <p:spPr>
          <a:xfrm>
            <a:off x="10589551" y="3162082"/>
            <a:ext cx="5229300" cy="7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89100" lIns="89100" spcFirstLastPara="1" rIns="89100" wrap="square" tIns="891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000">
                <a:solidFill>
                  <a:schemeClr val="dk1"/>
                </a:solidFill>
              </a:rPr>
              <a:t>Overall Performance</a:t>
            </a:r>
            <a:endParaRPr b="1"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da1d014ec3_0_58"/>
          <p:cNvSpPr txBox="1"/>
          <p:nvPr>
            <p:ph type="title"/>
          </p:nvPr>
        </p:nvSpPr>
        <p:spPr>
          <a:xfrm>
            <a:off x="6403300" y="310235"/>
            <a:ext cx="6032400" cy="14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6905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-US" sz="4400">
                <a:latin typeface="Arial"/>
                <a:ea typeface="Arial"/>
                <a:cs typeface="Arial"/>
                <a:sym typeface="Arial"/>
              </a:rPr>
              <a:t>Performance Metrics</a:t>
            </a:r>
            <a:endParaRPr/>
          </a:p>
        </p:txBody>
      </p:sp>
      <p:sp>
        <p:nvSpPr>
          <p:cNvPr id="260" name="Google Shape;260;g3da1d014ec3_0_58"/>
          <p:cNvSpPr/>
          <p:nvPr/>
        </p:nvSpPr>
        <p:spPr>
          <a:xfrm>
            <a:off x="1996598" y="2897752"/>
            <a:ext cx="14845800" cy="7017600"/>
          </a:xfrm>
          <a:prstGeom prst="rect">
            <a:avLst/>
          </a:prstGeom>
          <a:solidFill>
            <a:schemeClr val="lt1"/>
          </a:solidFill>
          <a:ln cap="flat" cmpd="sng" w="92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100" lIns="89100" spcFirstLastPara="1" rIns="89100" wrap="square" tIns="89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64"/>
              <a:buFont typeface="Arial"/>
              <a:buNone/>
            </a:pPr>
            <a:r>
              <a:t/>
            </a:r>
            <a:endParaRPr b="0" i="0" sz="1364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1" name="Google Shape;261;g3da1d014ec3_0_58"/>
          <p:cNvSpPr/>
          <p:nvPr/>
        </p:nvSpPr>
        <p:spPr>
          <a:xfrm>
            <a:off x="1996600" y="2897750"/>
            <a:ext cx="14845800" cy="1210500"/>
          </a:xfrm>
          <a:prstGeom prst="rect">
            <a:avLst/>
          </a:prstGeom>
          <a:solidFill>
            <a:srgbClr val="F3E5F5"/>
          </a:solidFill>
          <a:ln cap="flat" cmpd="sng" w="92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100" lIns="89100" spcFirstLastPara="1" rIns="89100" wrap="square" tIns="89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64"/>
              <a:buFont typeface="Arial"/>
              <a:buNone/>
            </a:pPr>
            <a:r>
              <a:t/>
            </a:r>
            <a:endParaRPr b="0" i="0" sz="1364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2" name="Google Shape;262;g3da1d014ec3_0_58"/>
          <p:cNvSpPr/>
          <p:nvPr/>
        </p:nvSpPr>
        <p:spPr>
          <a:xfrm>
            <a:off x="2015500" y="4108250"/>
            <a:ext cx="7506900" cy="5939700"/>
          </a:xfrm>
          <a:prstGeom prst="rect">
            <a:avLst/>
          </a:prstGeom>
          <a:solidFill>
            <a:srgbClr val="E3F2FD"/>
          </a:solidFill>
          <a:ln cap="flat" cmpd="sng" w="92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100" lIns="89100" spcFirstLastPara="1" rIns="89100" wrap="square" tIns="891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3200">
              <a:solidFill>
                <a:schemeClr val="dk1"/>
              </a:solidFill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❖"/>
            </a:pPr>
            <a:r>
              <a:rPr lang="en-US" sz="2800">
                <a:solidFill>
                  <a:schemeClr val="dk1"/>
                </a:solidFill>
              </a:rPr>
              <a:t>Insomnia    F1 = 0.92    Precision = 0.96    Recall = 0.89</a:t>
            </a:r>
            <a:endParaRPr sz="2800">
              <a:solidFill>
                <a:schemeClr val="dk1"/>
              </a:solidFill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❖"/>
            </a:pPr>
            <a:r>
              <a:rPr lang="en-US" sz="2800">
                <a:solidFill>
                  <a:schemeClr val="dk1"/>
                </a:solidFill>
              </a:rPr>
              <a:t>Bruxism     F1 = 0.90    Precision = 0.82    Recall = 1.00</a:t>
            </a:r>
            <a:endParaRPr sz="2800">
              <a:solidFill>
                <a:schemeClr val="dk1"/>
              </a:solidFill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❖"/>
            </a:pPr>
            <a:r>
              <a:rPr lang="en-US" sz="2800">
                <a:solidFill>
                  <a:schemeClr val="dk1"/>
                </a:solidFill>
              </a:rPr>
              <a:t>Normal      F1 = 0.77    Precision = 0.97    Recall = 0.63</a:t>
            </a:r>
            <a:endParaRPr sz="2800">
              <a:solidFill>
                <a:schemeClr val="dk1"/>
              </a:solidFill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❖"/>
            </a:pPr>
            <a:r>
              <a:rPr lang="en-US" sz="2800">
                <a:solidFill>
                  <a:schemeClr val="dk1"/>
                </a:solidFill>
              </a:rPr>
              <a:t>NFLE        F1 = 0.76    Precision = 1.00    Recall = 0.62</a:t>
            </a:r>
            <a:endParaRPr sz="2800">
              <a:solidFill>
                <a:schemeClr val="dk1"/>
              </a:solidFill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❖"/>
            </a:pPr>
            <a:r>
              <a:rPr lang="en-US" sz="2800">
                <a:solidFill>
                  <a:schemeClr val="dk1"/>
                </a:solidFill>
              </a:rPr>
              <a:t>Narcolepsy  F1 = 0.52    Precision = 0.35    Recall = 0.97</a:t>
            </a:r>
            <a:endParaRPr b="1" sz="2400">
              <a:solidFill>
                <a:schemeClr val="dk1"/>
              </a:solidFill>
            </a:endParaRPr>
          </a:p>
        </p:txBody>
      </p:sp>
      <p:sp>
        <p:nvSpPr>
          <p:cNvPr id="263" name="Google Shape;263;g3da1d014ec3_0_58"/>
          <p:cNvSpPr/>
          <p:nvPr/>
        </p:nvSpPr>
        <p:spPr>
          <a:xfrm>
            <a:off x="9522225" y="4108125"/>
            <a:ext cx="7320300" cy="5939700"/>
          </a:xfrm>
          <a:prstGeom prst="rect">
            <a:avLst/>
          </a:prstGeom>
          <a:solidFill>
            <a:srgbClr val="E8F5E9"/>
          </a:solidFill>
          <a:ln cap="flat" cmpd="sng" w="92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100" lIns="89100" spcFirstLastPara="1" rIns="89100" wrap="square" tIns="891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3100">
              <a:solidFill>
                <a:schemeClr val="dk1"/>
              </a:solidFill>
            </a:endParaRPr>
          </a:p>
          <a:p>
            <a:pPr indent="-4000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❖"/>
            </a:pPr>
            <a:r>
              <a:rPr lang="en-US" sz="2700">
                <a:solidFill>
                  <a:schemeClr val="dk1"/>
                </a:solidFill>
              </a:rPr>
              <a:t>NFLE precision = 1.00 - zero false NFLE alarms in test set</a:t>
            </a:r>
            <a:endParaRPr sz="2700">
              <a:solidFill>
                <a:schemeClr val="dk1"/>
              </a:solidFill>
            </a:endParaRPr>
          </a:p>
          <a:p>
            <a:pPr indent="-4000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❖"/>
            </a:pPr>
            <a:r>
              <a:rPr lang="en-US" sz="2700">
                <a:solidFill>
                  <a:schemeClr val="dk1"/>
                </a:solidFill>
              </a:rPr>
              <a:t>Insomnia and Bruxism classified with &gt;90% F1</a:t>
            </a:r>
            <a:endParaRPr sz="2700">
              <a:solidFill>
                <a:schemeClr val="dk1"/>
              </a:solidFill>
            </a:endParaRPr>
          </a:p>
          <a:p>
            <a:pPr indent="-4000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❖"/>
            </a:pPr>
            <a:r>
              <a:rPr lang="en-US" sz="2700">
                <a:solidFill>
                  <a:schemeClr val="dk1"/>
                </a:solidFill>
              </a:rPr>
              <a:t>Narcolepsy recall = 0.97 but low precision - model over-predicts this class when uncertain due to class imbalance (normal = 79.8% of dataset). </a:t>
            </a:r>
            <a:endParaRPr sz="2700">
              <a:solidFill>
                <a:schemeClr val="dk1"/>
              </a:solidFill>
            </a:endParaRPr>
          </a:p>
          <a:p>
            <a:pPr indent="-4000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❖"/>
            </a:pPr>
            <a:r>
              <a:rPr lang="en-US" sz="2700">
                <a:solidFill>
                  <a:schemeClr val="dk1"/>
                </a:solidFill>
              </a:rPr>
              <a:t>Fixable by capping normal epochs to ~600.</a:t>
            </a:r>
            <a:endParaRPr sz="2700">
              <a:solidFill>
                <a:schemeClr val="dk1"/>
              </a:solidFill>
            </a:endParaRPr>
          </a:p>
        </p:txBody>
      </p:sp>
      <p:sp>
        <p:nvSpPr>
          <p:cNvPr id="264" name="Google Shape;264;g3da1d014ec3_0_58"/>
          <p:cNvSpPr txBox="1"/>
          <p:nvPr/>
        </p:nvSpPr>
        <p:spPr>
          <a:xfrm>
            <a:off x="2932221" y="3180751"/>
            <a:ext cx="5864400" cy="7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89100" lIns="89100" spcFirstLastPara="1" rIns="89100" wrap="square" tIns="891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800">
                <a:solidFill>
                  <a:schemeClr val="dk1"/>
                </a:solidFill>
              </a:rPr>
              <a:t>Per-Class Performance (Test Set)</a:t>
            </a:r>
            <a:endParaRPr b="1"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100">
              <a:solidFill>
                <a:schemeClr val="dk1"/>
              </a:solidFill>
            </a:endParaRPr>
          </a:p>
        </p:txBody>
      </p:sp>
      <p:sp>
        <p:nvSpPr>
          <p:cNvPr id="265" name="Google Shape;265;g3da1d014ec3_0_58"/>
          <p:cNvSpPr txBox="1"/>
          <p:nvPr/>
        </p:nvSpPr>
        <p:spPr>
          <a:xfrm>
            <a:off x="10963081" y="3143400"/>
            <a:ext cx="4445100" cy="7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89100" lIns="89100" spcFirstLastPara="1" rIns="89100" wrap="square" tIns="891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300">
                <a:solidFill>
                  <a:schemeClr val="dk1"/>
                </a:solidFill>
              </a:rPr>
              <a:t>Key Observations</a:t>
            </a:r>
            <a:endParaRPr b="1"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7"/>
          <p:cNvSpPr txBox="1"/>
          <p:nvPr>
            <p:ph type="title"/>
          </p:nvPr>
        </p:nvSpPr>
        <p:spPr>
          <a:xfrm>
            <a:off x="5809588" y="198557"/>
            <a:ext cx="6668700" cy="17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92075">
            <a:spAutoFit/>
          </a:bodyPr>
          <a:lstStyle/>
          <a:p>
            <a:pPr indent="0" lvl="0" marL="14922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References</a:t>
            </a:r>
            <a:endParaRPr/>
          </a:p>
        </p:txBody>
      </p:sp>
      <p:sp>
        <p:nvSpPr>
          <p:cNvPr id="271" name="Google Shape;271;p37"/>
          <p:cNvSpPr txBox="1"/>
          <p:nvPr>
            <p:ph idx="1" type="body"/>
          </p:nvPr>
        </p:nvSpPr>
        <p:spPr>
          <a:xfrm>
            <a:off x="1811625" y="2373175"/>
            <a:ext cx="15538800" cy="77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➢"/>
            </a:pPr>
            <a:r>
              <a:rPr lang="en-US" sz="2400">
                <a:latin typeface="Roboto"/>
                <a:ea typeface="Roboto"/>
                <a:cs typeface="Roboto"/>
                <a:sym typeface="Roboto"/>
              </a:rPr>
              <a:t>An Attention-based Deep Learning Approach for Sleep Stage Classification with Single-Channel EEG</a:t>
            </a:r>
            <a:endParaRPr sz="2400" u="none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2200" u="none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➢"/>
            </a:pPr>
            <a:r>
              <a:rPr lang="en-US" sz="24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An important step toward automation of polysomnography analyses</a:t>
            </a:r>
            <a:endParaRPr sz="2400" u="none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➢"/>
            </a:pPr>
            <a:r>
              <a:rPr lang="en-US" sz="2400">
                <a:solidFill>
                  <a:schemeClr val="hlink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4"/>
              </a:rPr>
              <a:t>Intelligent automatic sleep staging model based on CNN and LSTM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➢"/>
            </a:pPr>
            <a:r>
              <a:rPr lang="en-US" sz="2400">
                <a:solidFill>
                  <a:schemeClr val="hlink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5"/>
              </a:rPr>
              <a:t>Revolutionizing sleep disorder diagnosis: A Multi-Task learning approach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➢"/>
            </a:pPr>
            <a:r>
              <a:rPr lang="en-US" sz="2400">
                <a:solidFill>
                  <a:schemeClr val="hlink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6"/>
              </a:rPr>
              <a:t>Efficient sleep apnea detection using single-lead ECG: A CNN-Transformer-LSTM approach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➢"/>
            </a:pPr>
            <a:r>
              <a:rPr lang="en-US" sz="2400">
                <a:solidFill>
                  <a:schemeClr val="hlink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7"/>
              </a:rPr>
              <a:t>MASleepNet: A Sleep Staging Model Integrating Multi-Channel Physiological Signals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➢"/>
            </a:pPr>
            <a:r>
              <a:rPr lang="en-US" sz="2400">
                <a:solidFill>
                  <a:schemeClr val="hlink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8"/>
              </a:rPr>
              <a:t>MASleepNet: A Sleep Staging Model Integrating Multi-Channel Physiological Signals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➢"/>
            </a:pPr>
            <a:r>
              <a:rPr lang="en-US" sz="2400">
                <a:solidFill>
                  <a:schemeClr val="hlink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9"/>
              </a:rPr>
              <a:t>Validation of an Automatic Arousal Detection Algorithm for Whole Night Sleep Recordings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➢"/>
            </a:pPr>
            <a:r>
              <a:rPr lang="en-US" sz="2400">
                <a:solidFill>
                  <a:schemeClr val="hlink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10"/>
              </a:rPr>
              <a:t>An efficient automatic arousals detection algorithm in single channel EEG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➢"/>
            </a:pPr>
            <a:r>
              <a:rPr lang="en-US" sz="2400">
                <a:solidFill>
                  <a:schemeClr val="hlink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11"/>
              </a:rPr>
              <a:t>CNN-LSTM Based Approach for Sleep Apnea Detection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➢"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➢"/>
            </a:pPr>
            <a:r>
              <a:rPr lang="en-US" sz="2400">
                <a:solidFill>
                  <a:schemeClr val="hlink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12"/>
              </a:rPr>
              <a:t>MULTI-TASK DEEP-LEARNING FOR SLEEP EVENT DETECTION AND STAGE CLASSIFICATION</a:t>
            </a:r>
            <a:endParaRPr sz="2400" u="none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